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9"/>
  </p:notesMasterIdLst>
  <p:sldIdLst>
    <p:sldId id="256" r:id="rId2"/>
    <p:sldId id="260" r:id="rId3"/>
    <p:sldId id="261" r:id="rId4"/>
    <p:sldId id="259" r:id="rId5"/>
    <p:sldId id="258" r:id="rId6"/>
    <p:sldId id="257" r:id="rId7"/>
    <p:sldId id="263" r:id="rId8"/>
    <p:sldId id="264" r:id="rId9"/>
    <p:sldId id="266" r:id="rId10"/>
    <p:sldId id="268" r:id="rId11"/>
    <p:sldId id="267" r:id="rId12"/>
    <p:sldId id="269" r:id="rId13"/>
    <p:sldId id="271" r:id="rId14"/>
    <p:sldId id="272" r:id="rId15"/>
    <p:sldId id="270" r:id="rId16"/>
    <p:sldId id="273" r:id="rId17"/>
    <p:sldId id="26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F29D7A-481A-4A3D-8B7B-9713E9B5A81E}" v="448" dt="2020-12-22T15:33:44.8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1445" autoAdjust="0"/>
  </p:normalViewPr>
  <p:slideViewPr>
    <p:cSldViewPr snapToGrid="0">
      <p:cViewPr varScale="1">
        <p:scale>
          <a:sx n="81" d="100"/>
          <a:sy n="81" d="100"/>
        </p:scale>
        <p:origin x="1692" y="9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f" userId="ee9199d94de97360" providerId="LiveId" clId="{66F29D7A-481A-4A3D-8B7B-9713E9B5A81E}"/>
    <pc:docChg chg="undo custSel addSld delSld modSld sldOrd">
      <pc:chgData name="andrew f" userId="ee9199d94de97360" providerId="LiveId" clId="{66F29D7A-481A-4A3D-8B7B-9713E9B5A81E}" dt="2020-12-22T17:11:37.634" v="19365" actId="20577"/>
      <pc:docMkLst>
        <pc:docMk/>
      </pc:docMkLst>
      <pc:sldChg chg="modSp mod modNotesTx">
        <pc:chgData name="andrew f" userId="ee9199d94de97360" providerId="LiveId" clId="{66F29D7A-481A-4A3D-8B7B-9713E9B5A81E}" dt="2020-12-22T15:20:57.700" v="17805" actId="20577"/>
        <pc:sldMkLst>
          <pc:docMk/>
          <pc:sldMk cId="2754184389" sldId="256"/>
        </pc:sldMkLst>
        <pc:spChg chg="mod">
          <ac:chgData name="andrew f" userId="ee9199d94de97360" providerId="LiveId" clId="{66F29D7A-481A-4A3D-8B7B-9713E9B5A81E}" dt="2020-12-22T05:46:55.231" v="10470"/>
          <ac:spMkLst>
            <pc:docMk/>
            <pc:sldMk cId="2754184389" sldId="256"/>
            <ac:spMk id="2" creationId="{9B3E0391-637B-43EC-A2C0-BEE458057EAD}"/>
          </ac:spMkLst>
        </pc:spChg>
        <pc:spChg chg="mod">
          <ac:chgData name="andrew f" userId="ee9199d94de97360" providerId="LiveId" clId="{66F29D7A-481A-4A3D-8B7B-9713E9B5A81E}" dt="2020-12-22T05:46:55.231" v="10470"/>
          <ac:spMkLst>
            <pc:docMk/>
            <pc:sldMk cId="2754184389" sldId="256"/>
            <ac:spMk id="3" creationId="{365E4B09-F43A-49D4-A672-4B6BC5034D54}"/>
          </ac:spMkLst>
        </pc:spChg>
      </pc:sldChg>
      <pc:sldChg chg="addSp delSp modSp mod ord modNotesTx">
        <pc:chgData name="andrew f" userId="ee9199d94de97360" providerId="LiveId" clId="{66F29D7A-481A-4A3D-8B7B-9713E9B5A81E}" dt="2020-12-22T16:00:06.985" v="18716" actId="20577"/>
        <pc:sldMkLst>
          <pc:docMk/>
          <pc:sldMk cId="2206108502" sldId="257"/>
        </pc:sldMkLst>
        <pc:spChg chg="mod">
          <ac:chgData name="andrew f" userId="ee9199d94de97360" providerId="LiveId" clId="{66F29D7A-481A-4A3D-8B7B-9713E9B5A81E}" dt="2020-12-22T05:46:55.231" v="10470"/>
          <ac:spMkLst>
            <pc:docMk/>
            <pc:sldMk cId="2206108502" sldId="257"/>
            <ac:spMk id="2" creationId="{5F4E0D57-476A-4EEC-962F-8CEBFEFF8E18}"/>
          </ac:spMkLst>
        </pc:spChg>
        <pc:spChg chg="mod">
          <ac:chgData name="andrew f" userId="ee9199d94de97360" providerId="LiveId" clId="{66F29D7A-481A-4A3D-8B7B-9713E9B5A81E}" dt="2020-12-22T05:46:55.231" v="10470"/>
          <ac:spMkLst>
            <pc:docMk/>
            <pc:sldMk cId="2206108502" sldId="257"/>
            <ac:spMk id="3" creationId="{DF6E7CDD-B57A-4A22-97C5-5BFCBF2EA755}"/>
          </ac:spMkLst>
        </pc:spChg>
        <pc:graphicFrameChg chg="add mod">
          <ac:chgData name="andrew f" userId="ee9199d94de97360" providerId="LiveId" clId="{66F29D7A-481A-4A3D-8B7B-9713E9B5A81E}" dt="2020-12-22T06:02:08.953" v="10668" actId="1076"/>
          <ac:graphicFrameMkLst>
            <pc:docMk/>
            <pc:sldMk cId="2206108502" sldId="257"/>
            <ac:graphicFrameMk id="4" creationId="{2126E850-82DC-4D25-9F18-68048943D25C}"/>
          </ac:graphicFrameMkLst>
        </pc:graphicFrameChg>
        <pc:graphicFrameChg chg="add del mod">
          <ac:chgData name="andrew f" userId="ee9199d94de97360" providerId="LiveId" clId="{66F29D7A-481A-4A3D-8B7B-9713E9B5A81E}" dt="2020-12-22T06:02:33.193" v="10669" actId="478"/>
          <ac:graphicFrameMkLst>
            <pc:docMk/>
            <pc:sldMk cId="2206108502" sldId="257"/>
            <ac:graphicFrameMk id="5" creationId="{35EFD291-AECE-461D-8000-945F961F49F6}"/>
          </ac:graphicFrameMkLst>
        </pc:graphicFrameChg>
        <pc:graphicFrameChg chg="add mod">
          <ac:chgData name="andrew f" userId="ee9199d94de97360" providerId="LiveId" clId="{66F29D7A-481A-4A3D-8B7B-9713E9B5A81E}" dt="2020-12-22T06:03:10.635" v="10685" actId="1076"/>
          <ac:graphicFrameMkLst>
            <pc:docMk/>
            <pc:sldMk cId="2206108502" sldId="257"/>
            <ac:graphicFrameMk id="6" creationId="{35EFD291-AECE-461D-8000-945F961F49F6}"/>
          </ac:graphicFrameMkLst>
        </pc:graphicFrameChg>
      </pc:sldChg>
      <pc:sldChg chg="modSp new mod modNotesTx">
        <pc:chgData name="andrew f" userId="ee9199d94de97360" providerId="LiveId" clId="{66F29D7A-481A-4A3D-8B7B-9713E9B5A81E}" dt="2020-12-22T15:31:45.991" v="18454" actId="20577"/>
        <pc:sldMkLst>
          <pc:docMk/>
          <pc:sldMk cId="254665632" sldId="258"/>
        </pc:sldMkLst>
        <pc:spChg chg="mod">
          <ac:chgData name="andrew f" userId="ee9199d94de97360" providerId="LiveId" clId="{66F29D7A-481A-4A3D-8B7B-9713E9B5A81E}" dt="2020-12-22T05:46:55.231" v="10470"/>
          <ac:spMkLst>
            <pc:docMk/>
            <pc:sldMk cId="254665632" sldId="258"/>
            <ac:spMk id="2" creationId="{E208BE21-0E05-434C-A66A-58DBB40435C7}"/>
          </ac:spMkLst>
        </pc:spChg>
        <pc:spChg chg="mod">
          <ac:chgData name="andrew f" userId="ee9199d94de97360" providerId="LiveId" clId="{66F29D7A-481A-4A3D-8B7B-9713E9B5A81E}" dt="2020-12-22T06:26:51.417" v="11103" actId="5793"/>
          <ac:spMkLst>
            <pc:docMk/>
            <pc:sldMk cId="254665632" sldId="258"/>
            <ac:spMk id="3" creationId="{B92C3315-EAE7-4C4D-99BC-A2519ADF1B2E}"/>
          </ac:spMkLst>
        </pc:spChg>
      </pc:sldChg>
      <pc:sldChg chg="modSp new mod ord">
        <pc:chgData name="andrew f" userId="ee9199d94de97360" providerId="LiveId" clId="{66F29D7A-481A-4A3D-8B7B-9713E9B5A81E}" dt="2020-12-22T05:46:55.231" v="10470"/>
        <pc:sldMkLst>
          <pc:docMk/>
          <pc:sldMk cId="320102928" sldId="259"/>
        </pc:sldMkLst>
        <pc:spChg chg="mod">
          <ac:chgData name="andrew f" userId="ee9199d94de97360" providerId="LiveId" clId="{66F29D7A-481A-4A3D-8B7B-9713E9B5A81E}" dt="2020-12-22T05:46:55.231" v="10470"/>
          <ac:spMkLst>
            <pc:docMk/>
            <pc:sldMk cId="320102928" sldId="259"/>
            <ac:spMk id="2" creationId="{F5EB6EA3-8B98-4998-9551-D84A98D916B6}"/>
          </ac:spMkLst>
        </pc:spChg>
        <pc:spChg chg="mod">
          <ac:chgData name="andrew f" userId="ee9199d94de97360" providerId="LiveId" clId="{66F29D7A-481A-4A3D-8B7B-9713E9B5A81E}" dt="2020-12-22T05:46:55.231" v="10470"/>
          <ac:spMkLst>
            <pc:docMk/>
            <pc:sldMk cId="320102928" sldId="259"/>
            <ac:spMk id="3" creationId="{17EF3AC5-73C4-4C72-B290-19A03DCA437B}"/>
          </ac:spMkLst>
        </pc:spChg>
      </pc:sldChg>
      <pc:sldChg chg="modSp new mod ord modNotesTx">
        <pc:chgData name="andrew f" userId="ee9199d94de97360" providerId="LiveId" clId="{66F29D7A-481A-4A3D-8B7B-9713E9B5A81E}" dt="2020-12-22T17:11:37.634" v="19365" actId="20577"/>
        <pc:sldMkLst>
          <pc:docMk/>
          <pc:sldMk cId="3796300889" sldId="260"/>
        </pc:sldMkLst>
        <pc:spChg chg="mod">
          <ac:chgData name="andrew f" userId="ee9199d94de97360" providerId="LiveId" clId="{66F29D7A-481A-4A3D-8B7B-9713E9B5A81E}" dt="2020-12-22T05:46:55.231" v="10470"/>
          <ac:spMkLst>
            <pc:docMk/>
            <pc:sldMk cId="3796300889" sldId="260"/>
            <ac:spMk id="2" creationId="{A18BA5F8-9263-4A59-8997-CC5B8CC3DE5F}"/>
          </ac:spMkLst>
        </pc:spChg>
        <pc:spChg chg="mod">
          <ac:chgData name="andrew f" userId="ee9199d94de97360" providerId="LiveId" clId="{66F29D7A-481A-4A3D-8B7B-9713E9B5A81E}" dt="2020-12-22T05:46:55.231" v="10470"/>
          <ac:spMkLst>
            <pc:docMk/>
            <pc:sldMk cId="3796300889" sldId="260"/>
            <ac:spMk id="3" creationId="{A07CC51B-F568-4619-BC0D-ACD60D0E67C4}"/>
          </ac:spMkLst>
        </pc:spChg>
      </pc:sldChg>
      <pc:sldChg chg="modSp new mod modNotesTx">
        <pc:chgData name="andrew f" userId="ee9199d94de97360" providerId="LiveId" clId="{66F29D7A-481A-4A3D-8B7B-9713E9B5A81E}" dt="2020-12-22T15:23:15.941" v="17806" actId="20577"/>
        <pc:sldMkLst>
          <pc:docMk/>
          <pc:sldMk cId="2013303090" sldId="261"/>
        </pc:sldMkLst>
        <pc:spChg chg="mod">
          <ac:chgData name="andrew f" userId="ee9199d94de97360" providerId="LiveId" clId="{66F29D7A-481A-4A3D-8B7B-9713E9B5A81E}" dt="2020-12-22T05:46:55.231" v="10470"/>
          <ac:spMkLst>
            <pc:docMk/>
            <pc:sldMk cId="2013303090" sldId="261"/>
            <ac:spMk id="2" creationId="{0871CC9B-540D-4362-A472-C0F2FD8B6698}"/>
          </ac:spMkLst>
        </pc:spChg>
        <pc:spChg chg="mod">
          <ac:chgData name="andrew f" userId="ee9199d94de97360" providerId="LiveId" clId="{66F29D7A-481A-4A3D-8B7B-9713E9B5A81E}" dt="2020-12-22T05:46:55.231" v="10470"/>
          <ac:spMkLst>
            <pc:docMk/>
            <pc:sldMk cId="2013303090" sldId="261"/>
            <ac:spMk id="3" creationId="{18443D6A-9C46-4F9C-BBFD-0D2E768F79F7}"/>
          </ac:spMkLst>
        </pc:spChg>
      </pc:sldChg>
      <pc:sldChg chg="modSp new mod">
        <pc:chgData name="andrew f" userId="ee9199d94de97360" providerId="LiveId" clId="{66F29D7A-481A-4A3D-8B7B-9713E9B5A81E}" dt="2020-12-22T05:46:55.231" v="10470"/>
        <pc:sldMkLst>
          <pc:docMk/>
          <pc:sldMk cId="1722868386" sldId="262"/>
        </pc:sldMkLst>
        <pc:spChg chg="mod">
          <ac:chgData name="andrew f" userId="ee9199d94de97360" providerId="LiveId" clId="{66F29D7A-481A-4A3D-8B7B-9713E9B5A81E}" dt="2020-12-22T05:46:55.231" v="10470"/>
          <ac:spMkLst>
            <pc:docMk/>
            <pc:sldMk cId="1722868386" sldId="262"/>
            <ac:spMk id="2" creationId="{C155BD18-9508-4E0D-9AB0-B95B1360D607}"/>
          </ac:spMkLst>
        </pc:spChg>
        <pc:spChg chg="mod">
          <ac:chgData name="andrew f" userId="ee9199d94de97360" providerId="LiveId" clId="{66F29D7A-481A-4A3D-8B7B-9713E9B5A81E}" dt="2020-12-22T05:46:55.231" v="10470"/>
          <ac:spMkLst>
            <pc:docMk/>
            <pc:sldMk cId="1722868386" sldId="262"/>
            <ac:spMk id="3" creationId="{1B14E0B2-74CD-470D-A1BD-0F8FBF450EEC}"/>
          </ac:spMkLst>
        </pc:spChg>
      </pc:sldChg>
      <pc:sldChg chg="addSp delSp modSp new mod modNotesTx">
        <pc:chgData name="andrew f" userId="ee9199d94de97360" providerId="LiveId" clId="{66F29D7A-481A-4A3D-8B7B-9713E9B5A81E}" dt="2020-12-22T16:01:34.400" v="18757" actId="20577"/>
        <pc:sldMkLst>
          <pc:docMk/>
          <pc:sldMk cId="1914365226" sldId="263"/>
        </pc:sldMkLst>
        <pc:spChg chg="mod">
          <ac:chgData name="andrew f" userId="ee9199d94de97360" providerId="LiveId" clId="{66F29D7A-481A-4A3D-8B7B-9713E9B5A81E}" dt="2020-12-22T05:46:55.231" v="10470"/>
          <ac:spMkLst>
            <pc:docMk/>
            <pc:sldMk cId="1914365226" sldId="263"/>
            <ac:spMk id="2" creationId="{0DF015E5-161C-4E36-BF11-37868FAF9AFB}"/>
          </ac:spMkLst>
        </pc:spChg>
        <pc:spChg chg="mod">
          <ac:chgData name="andrew f" userId="ee9199d94de97360" providerId="LiveId" clId="{66F29D7A-481A-4A3D-8B7B-9713E9B5A81E}" dt="2020-12-22T05:46:55.231" v="10470"/>
          <ac:spMkLst>
            <pc:docMk/>
            <pc:sldMk cId="1914365226" sldId="263"/>
            <ac:spMk id="3" creationId="{9EB14E04-6E8D-4B3B-8736-8379FFB545C8}"/>
          </ac:spMkLst>
        </pc:spChg>
        <pc:graphicFrameChg chg="add del mod">
          <ac:chgData name="andrew f" userId="ee9199d94de97360" providerId="LiveId" clId="{66F29D7A-481A-4A3D-8B7B-9713E9B5A81E}" dt="2020-12-22T00:27:45.256" v="2278" actId="478"/>
          <ac:graphicFrameMkLst>
            <pc:docMk/>
            <pc:sldMk cId="1914365226" sldId="263"/>
            <ac:graphicFrameMk id="4" creationId="{8AE41B83-D660-4807-BE5C-E9C7BFC9B860}"/>
          </ac:graphicFrameMkLst>
        </pc:graphicFrameChg>
        <pc:graphicFrameChg chg="add mod">
          <ac:chgData name="andrew f" userId="ee9199d94de97360" providerId="LiveId" clId="{66F29D7A-481A-4A3D-8B7B-9713E9B5A81E}" dt="2020-12-22T00:32:49.097" v="2515" actId="1076"/>
          <ac:graphicFrameMkLst>
            <pc:docMk/>
            <pc:sldMk cId="1914365226" sldId="263"/>
            <ac:graphicFrameMk id="5" creationId="{8AE41B83-D660-4807-BE5C-E9C7BFC9B860}"/>
          </ac:graphicFrameMkLst>
        </pc:graphicFrameChg>
        <pc:graphicFrameChg chg="add del mod">
          <ac:chgData name="andrew f" userId="ee9199d94de97360" providerId="LiveId" clId="{66F29D7A-481A-4A3D-8B7B-9713E9B5A81E}" dt="2020-12-22T00:28:51.787" v="2293" actId="21"/>
          <ac:graphicFrameMkLst>
            <pc:docMk/>
            <pc:sldMk cId="1914365226" sldId="263"/>
            <ac:graphicFrameMk id="6" creationId="{D13875B3-93D5-4588-94EB-E1C256D74514}"/>
          </ac:graphicFrameMkLst>
        </pc:graphicFrameChg>
      </pc:sldChg>
      <pc:sldChg chg="addSp delSp modSp new mod modNotesTx">
        <pc:chgData name="andrew f" userId="ee9199d94de97360" providerId="LiveId" clId="{66F29D7A-481A-4A3D-8B7B-9713E9B5A81E}" dt="2020-12-22T16:03:35.227" v="18808" actId="20577"/>
        <pc:sldMkLst>
          <pc:docMk/>
          <pc:sldMk cId="4155184270" sldId="264"/>
        </pc:sldMkLst>
        <pc:spChg chg="mod">
          <ac:chgData name="andrew f" userId="ee9199d94de97360" providerId="LiveId" clId="{66F29D7A-481A-4A3D-8B7B-9713E9B5A81E}" dt="2020-12-22T05:46:55.231" v="10470"/>
          <ac:spMkLst>
            <pc:docMk/>
            <pc:sldMk cId="4155184270" sldId="264"/>
            <ac:spMk id="2" creationId="{29ED92B6-C920-4B12-B7EE-7486024CF9B7}"/>
          </ac:spMkLst>
        </pc:spChg>
        <pc:spChg chg="mod">
          <ac:chgData name="andrew f" userId="ee9199d94de97360" providerId="LiveId" clId="{66F29D7A-481A-4A3D-8B7B-9713E9B5A81E}" dt="2020-12-22T05:46:55.231" v="10470"/>
          <ac:spMkLst>
            <pc:docMk/>
            <pc:sldMk cId="4155184270" sldId="264"/>
            <ac:spMk id="3" creationId="{E536DEDB-AFD6-4ED0-B4E2-043067D23901}"/>
          </ac:spMkLst>
        </pc:spChg>
        <pc:graphicFrameChg chg="add del mod">
          <ac:chgData name="andrew f" userId="ee9199d94de97360" providerId="LiveId" clId="{66F29D7A-481A-4A3D-8B7B-9713E9B5A81E}" dt="2020-12-22T00:28:29.057" v="2281" actId="478"/>
          <ac:graphicFrameMkLst>
            <pc:docMk/>
            <pc:sldMk cId="4155184270" sldId="264"/>
            <ac:graphicFrameMk id="4" creationId="{19E7A14A-89F7-431C-94B6-A2D062F7E1D0}"/>
          </ac:graphicFrameMkLst>
        </pc:graphicFrameChg>
        <pc:graphicFrameChg chg="add del mod">
          <ac:chgData name="andrew f" userId="ee9199d94de97360" providerId="LiveId" clId="{66F29D7A-481A-4A3D-8B7B-9713E9B5A81E}" dt="2020-12-22T00:28:32.339" v="2285" actId="21"/>
          <ac:graphicFrameMkLst>
            <pc:docMk/>
            <pc:sldMk cId="4155184270" sldId="264"/>
            <ac:graphicFrameMk id="5" creationId="{19E7A14A-89F7-431C-94B6-A2D062F7E1D0}"/>
          </ac:graphicFrameMkLst>
        </pc:graphicFrameChg>
        <pc:graphicFrameChg chg="add mod">
          <ac:chgData name="andrew f" userId="ee9199d94de97360" providerId="LiveId" clId="{66F29D7A-481A-4A3D-8B7B-9713E9B5A81E}" dt="2020-12-22T00:32:56.538" v="2517" actId="1076"/>
          <ac:graphicFrameMkLst>
            <pc:docMk/>
            <pc:sldMk cId="4155184270" sldId="264"/>
            <ac:graphicFrameMk id="6" creationId="{B25F2D1F-297C-41FE-8BBA-44055569B601}"/>
          </ac:graphicFrameMkLst>
        </pc:graphicFrameChg>
      </pc:sldChg>
      <pc:sldChg chg="addSp delSp modSp new del mod">
        <pc:chgData name="andrew f" userId="ee9199d94de97360" providerId="LiveId" clId="{66F29D7A-481A-4A3D-8B7B-9713E9B5A81E}" dt="2020-12-22T00:37:36.886" v="2665" actId="47"/>
        <pc:sldMkLst>
          <pc:docMk/>
          <pc:sldMk cId="2687763511" sldId="265"/>
        </pc:sldMkLst>
        <pc:spChg chg="mod">
          <ac:chgData name="andrew f" userId="ee9199d94de97360" providerId="LiveId" clId="{66F29D7A-481A-4A3D-8B7B-9713E9B5A81E}" dt="2020-12-22T00:37:34.170" v="2663" actId="21"/>
          <ac:spMkLst>
            <pc:docMk/>
            <pc:sldMk cId="2687763511" sldId="265"/>
            <ac:spMk id="2" creationId="{CA61E03D-503F-4E85-908A-7DE1638AA4C1}"/>
          </ac:spMkLst>
        </pc:spChg>
        <pc:spChg chg="del">
          <ac:chgData name="andrew f" userId="ee9199d94de97360" providerId="LiveId" clId="{66F29D7A-481A-4A3D-8B7B-9713E9B5A81E}" dt="2020-12-22T00:34:18.961" v="2621"/>
          <ac:spMkLst>
            <pc:docMk/>
            <pc:sldMk cId="2687763511" sldId="265"/>
            <ac:spMk id="3" creationId="{66AFE17E-BAA4-4482-B7AA-84F68A5A4AC0}"/>
          </ac:spMkLst>
        </pc:spChg>
        <pc:spChg chg="add del mod">
          <ac:chgData name="andrew f" userId="ee9199d94de97360" providerId="LiveId" clId="{66F29D7A-481A-4A3D-8B7B-9713E9B5A81E}" dt="2020-12-22T00:35:09.860" v="2625"/>
          <ac:spMkLst>
            <pc:docMk/>
            <pc:sldMk cId="2687763511" sldId="265"/>
            <ac:spMk id="6" creationId="{000C7D49-8504-41B0-BBC7-CAC693F8B7E0}"/>
          </ac:spMkLst>
        </pc:spChg>
        <pc:spChg chg="add del mod">
          <ac:chgData name="andrew f" userId="ee9199d94de97360" providerId="LiveId" clId="{66F29D7A-481A-4A3D-8B7B-9713E9B5A81E}" dt="2020-12-22T00:35:38.502" v="2628"/>
          <ac:spMkLst>
            <pc:docMk/>
            <pc:sldMk cId="2687763511" sldId="265"/>
            <ac:spMk id="9" creationId="{54910630-4AA6-4C8F-A1AF-2A28D069DFAE}"/>
          </ac:spMkLst>
        </pc:spChg>
        <pc:graphicFrameChg chg="add del mod modGraphic">
          <ac:chgData name="andrew f" userId="ee9199d94de97360" providerId="LiveId" clId="{66F29D7A-481A-4A3D-8B7B-9713E9B5A81E}" dt="2020-12-22T00:34:41.373" v="2624" actId="478"/>
          <ac:graphicFrameMkLst>
            <pc:docMk/>
            <pc:sldMk cId="2687763511" sldId="265"/>
            <ac:graphicFrameMk id="4" creationId="{0670A969-FE4D-4E6B-9022-4DCAA3A4791E}"/>
          </ac:graphicFrameMkLst>
        </pc:graphicFrameChg>
        <pc:graphicFrameChg chg="add del mod">
          <ac:chgData name="andrew f" userId="ee9199d94de97360" providerId="LiveId" clId="{66F29D7A-481A-4A3D-8B7B-9713E9B5A81E}" dt="2020-12-22T00:35:38.216" v="2627" actId="478"/>
          <ac:graphicFrameMkLst>
            <pc:docMk/>
            <pc:sldMk cId="2687763511" sldId="265"/>
            <ac:graphicFrameMk id="7" creationId="{B4012832-344C-401E-82FB-5E1A834438C1}"/>
          </ac:graphicFrameMkLst>
        </pc:graphicFrameChg>
        <pc:graphicFrameChg chg="add mod modGraphic">
          <ac:chgData name="andrew f" userId="ee9199d94de97360" providerId="LiveId" clId="{66F29D7A-481A-4A3D-8B7B-9713E9B5A81E}" dt="2020-12-22T00:37:23.868" v="2660" actId="1076"/>
          <ac:graphicFrameMkLst>
            <pc:docMk/>
            <pc:sldMk cId="2687763511" sldId="265"/>
            <ac:graphicFrameMk id="10" creationId="{F7A38D99-B95B-4F92-8584-2B8882AD3F26}"/>
          </ac:graphicFrameMkLst>
        </pc:graphicFrameChg>
        <pc:graphicFrameChg chg="add mod modGraphic">
          <ac:chgData name="andrew f" userId="ee9199d94de97360" providerId="LiveId" clId="{66F29D7A-481A-4A3D-8B7B-9713E9B5A81E}" dt="2020-12-22T00:37:23.868" v="2660" actId="1076"/>
          <ac:graphicFrameMkLst>
            <pc:docMk/>
            <pc:sldMk cId="2687763511" sldId="265"/>
            <ac:graphicFrameMk id="11" creationId="{0B343F8A-27F9-4540-A25C-9A84EC94B2A6}"/>
          </ac:graphicFrameMkLst>
        </pc:graphicFrameChg>
      </pc:sldChg>
      <pc:sldChg chg="addSp modSp new mod modNotesTx">
        <pc:chgData name="andrew f" userId="ee9199d94de97360" providerId="LiveId" clId="{66F29D7A-481A-4A3D-8B7B-9713E9B5A81E}" dt="2020-12-22T16:06:55.396" v="18820" actId="20577"/>
        <pc:sldMkLst>
          <pc:docMk/>
          <pc:sldMk cId="830189293" sldId="266"/>
        </pc:sldMkLst>
        <pc:spChg chg="mod">
          <ac:chgData name="andrew f" userId="ee9199d94de97360" providerId="LiveId" clId="{66F29D7A-481A-4A3D-8B7B-9713E9B5A81E}" dt="2020-12-22T05:46:55.231" v="10470"/>
          <ac:spMkLst>
            <pc:docMk/>
            <pc:sldMk cId="830189293" sldId="266"/>
            <ac:spMk id="2" creationId="{C4F13B49-31B8-4E7B-9947-43C8746E5A66}"/>
          </ac:spMkLst>
        </pc:spChg>
        <pc:spChg chg="mod">
          <ac:chgData name="andrew f" userId="ee9199d94de97360" providerId="LiveId" clId="{66F29D7A-481A-4A3D-8B7B-9713E9B5A81E}" dt="2020-12-22T05:46:55.231" v="10470"/>
          <ac:spMkLst>
            <pc:docMk/>
            <pc:sldMk cId="830189293" sldId="266"/>
            <ac:spMk id="3" creationId="{072EC987-962A-4288-8DBB-0D252105603C}"/>
          </ac:spMkLst>
        </pc:spChg>
        <pc:graphicFrameChg chg="add mod modGraphic">
          <ac:chgData name="andrew f" userId="ee9199d94de97360" providerId="LiveId" clId="{66F29D7A-481A-4A3D-8B7B-9713E9B5A81E}" dt="2020-12-22T00:48:14.470" v="3449" actId="1076"/>
          <ac:graphicFrameMkLst>
            <pc:docMk/>
            <pc:sldMk cId="830189293" sldId="266"/>
            <ac:graphicFrameMk id="4" creationId="{64BE760E-5060-4595-9D35-1DDF80946E69}"/>
          </ac:graphicFrameMkLst>
        </pc:graphicFrameChg>
        <pc:graphicFrameChg chg="add mod modGraphic">
          <ac:chgData name="andrew f" userId="ee9199d94de97360" providerId="LiveId" clId="{66F29D7A-481A-4A3D-8B7B-9713E9B5A81E}" dt="2020-12-22T00:48:14.470" v="3449" actId="1076"/>
          <ac:graphicFrameMkLst>
            <pc:docMk/>
            <pc:sldMk cId="830189293" sldId="266"/>
            <ac:graphicFrameMk id="5" creationId="{C0E1FFAB-9F87-4603-B5D9-98F1E583FC7A}"/>
          </ac:graphicFrameMkLst>
        </pc:graphicFrameChg>
      </pc:sldChg>
      <pc:sldChg chg="addSp delSp modSp new mod modNotesTx">
        <pc:chgData name="andrew f" userId="ee9199d94de97360" providerId="LiveId" clId="{66F29D7A-481A-4A3D-8B7B-9713E9B5A81E}" dt="2020-12-22T06:45:25.700" v="14409" actId="20577"/>
        <pc:sldMkLst>
          <pc:docMk/>
          <pc:sldMk cId="461550183" sldId="267"/>
        </pc:sldMkLst>
        <pc:spChg chg="mod">
          <ac:chgData name="andrew f" userId="ee9199d94de97360" providerId="LiveId" clId="{66F29D7A-481A-4A3D-8B7B-9713E9B5A81E}" dt="2020-12-22T05:46:55.231" v="10470"/>
          <ac:spMkLst>
            <pc:docMk/>
            <pc:sldMk cId="461550183" sldId="267"/>
            <ac:spMk id="2" creationId="{686B5ECB-007B-4FF1-BA6F-2380744B01CF}"/>
          </ac:spMkLst>
        </pc:spChg>
        <pc:spChg chg="mod">
          <ac:chgData name="andrew f" userId="ee9199d94de97360" providerId="LiveId" clId="{66F29D7A-481A-4A3D-8B7B-9713E9B5A81E}" dt="2020-12-22T05:46:55.231" v="10470"/>
          <ac:spMkLst>
            <pc:docMk/>
            <pc:sldMk cId="461550183" sldId="267"/>
            <ac:spMk id="3" creationId="{6B071A0C-0B0C-4B3A-B970-3DA6CE34BDAC}"/>
          </ac:spMkLst>
        </pc:spChg>
        <pc:spChg chg="add del">
          <ac:chgData name="andrew f" userId="ee9199d94de97360" providerId="LiveId" clId="{66F29D7A-481A-4A3D-8B7B-9713E9B5A81E}" dt="2020-12-22T04:21:31.346" v="5029"/>
          <ac:spMkLst>
            <pc:docMk/>
            <pc:sldMk cId="461550183" sldId="267"/>
            <ac:spMk id="4" creationId="{E2DC460B-D51E-463B-BE28-0927AF3582F5}"/>
          </ac:spMkLst>
        </pc:spChg>
        <pc:picChg chg="add mod">
          <ac:chgData name="andrew f" userId="ee9199d94de97360" providerId="LiveId" clId="{66F29D7A-481A-4A3D-8B7B-9713E9B5A81E}" dt="2020-12-22T04:22:01.756" v="5040" actId="1076"/>
          <ac:picMkLst>
            <pc:docMk/>
            <pc:sldMk cId="461550183" sldId="267"/>
            <ac:picMk id="11" creationId="{C3202C08-F5F2-42A3-89E1-79EADE5636F7}"/>
          </ac:picMkLst>
        </pc:picChg>
        <pc:picChg chg="add mod">
          <ac:chgData name="andrew f" userId="ee9199d94de97360" providerId="LiveId" clId="{66F29D7A-481A-4A3D-8B7B-9713E9B5A81E}" dt="2020-12-22T04:22:11.857" v="5041" actId="1076"/>
          <ac:picMkLst>
            <pc:docMk/>
            <pc:sldMk cId="461550183" sldId="267"/>
            <ac:picMk id="12" creationId="{83F06367-68CB-46DC-9537-171B14D8A20A}"/>
          </ac:picMkLst>
        </pc:picChg>
        <pc:picChg chg="add del mod">
          <ac:chgData name="andrew f" userId="ee9199d94de97360" providerId="LiveId" clId="{66F29D7A-481A-4A3D-8B7B-9713E9B5A81E}" dt="2020-12-22T02:05:08.492" v="4202" actId="478"/>
          <ac:picMkLst>
            <pc:docMk/>
            <pc:sldMk cId="461550183" sldId="267"/>
            <ac:picMk id="2050" creationId="{C5FC1067-EC4A-4ED4-8875-2103EC47A1BB}"/>
          </ac:picMkLst>
        </pc:picChg>
        <pc:picChg chg="add del mod">
          <ac:chgData name="andrew f" userId="ee9199d94de97360" providerId="LiveId" clId="{66F29D7A-481A-4A3D-8B7B-9713E9B5A81E}" dt="2020-12-22T02:05:08.492" v="4202" actId="478"/>
          <ac:picMkLst>
            <pc:docMk/>
            <pc:sldMk cId="461550183" sldId="267"/>
            <ac:picMk id="2052" creationId="{6AA87DC4-52F8-4463-B372-C3EDFBF9D176}"/>
          </ac:picMkLst>
        </pc:picChg>
        <pc:picChg chg="add del mod">
          <ac:chgData name="andrew f" userId="ee9199d94de97360" providerId="LiveId" clId="{66F29D7A-481A-4A3D-8B7B-9713E9B5A81E}" dt="2020-12-22T04:20:31.994" v="4996" actId="478"/>
          <ac:picMkLst>
            <pc:docMk/>
            <pc:sldMk cId="461550183" sldId="267"/>
            <ac:picMk id="2054" creationId="{4A36560F-CEA8-41CF-B294-DEB0672F15E1}"/>
          </ac:picMkLst>
        </pc:picChg>
        <pc:picChg chg="add del mod">
          <ac:chgData name="andrew f" userId="ee9199d94de97360" providerId="LiveId" clId="{66F29D7A-481A-4A3D-8B7B-9713E9B5A81E}" dt="2020-12-22T04:20:31.994" v="4996" actId="478"/>
          <ac:picMkLst>
            <pc:docMk/>
            <pc:sldMk cId="461550183" sldId="267"/>
            <ac:picMk id="2056" creationId="{C4DE9E09-E6C7-4E50-98C7-82ED47457E70}"/>
          </ac:picMkLst>
        </pc:picChg>
        <pc:picChg chg="add del mod">
          <ac:chgData name="andrew f" userId="ee9199d94de97360" providerId="LiveId" clId="{66F29D7A-481A-4A3D-8B7B-9713E9B5A81E}" dt="2020-12-22T04:21:42.363" v="5034" actId="21"/>
          <ac:picMkLst>
            <pc:docMk/>
            <pc:sldMk cId="461550183" sldId="267"/>
            <ac:picMk id="2058" creationId="{5199D4C0-82B4-4B74-9EF9-28DA8DC1E311}"/>
          </ac:picMkLst>
        </pc:picChg>
        <pc:picChg chg="add del mod">
          <ac:chgData name="andrew f" userId="ee9199d94de97360" providerId="LiveId" clId="{66F29D7A-481A-4A3D-8B7B-9713E9B5A81E}" dt="2020-12-22T04:21:42.363" v="5034" actId="21"/>
          <ac:picMkLst>
            <pc:docMk/>
            <pc:sldMk cId="461550183" sldId="267"/>
            <ac:picMk id="2061" creationId="{3C134CD5-9A1E-4742-AB79-4E8BF5607C39}"/>
          </ac:picMkLst>
        </pc:picChg>
      </pc:sldChg>
      <pc:sldChg chg="addSp delSp modSp new mod ord modNotesTx">
        <pc:chgData name="andrew f" userId="ee9199d94de97360" providerId="LiveId" clId="{66F29D7A-481A-4A3D-8B7B-9713E9B5A81E}" dt="2020-12-22T06:42:21.299" v="13797" actId="20577"/>
        <pc:sldMkLst>
          <pc:docMk/>
          <pc:sldMk cId="3335183003" sldId="268"/>
        </pc:sldMkLst>
        <pc:spChg chg="mod">
          <ac:chgData name="andrew f" userId="ee9199d94de97360" providerId="LiveId" clId="{66F29D7A-481A-4A3D-8B7B-9713E9B5A81E}" dt="2020-12-22T05:46:55.231" v="10470"/>
          <ac:spMkLst>
            <pc:docMk/>
            <pc:sldMk cId="3335183003" sldId="268"/>
            <ac:spMk id="2" creationId="{CC88E9BD-38E4-4718-A6ED-9EADC4FC7B37}"/>
          </ac:spMkLst>
        </pc:spChg>
        <pc:spChg chg="mod">
          <ac:chgData name="andrew f" userId="ee9199d94de97360" providerId="LiveId" clId="{66F29D7A-481A-4A3D-8B7B-9713E9B5A81E}" dt="2020-12-22T05:46:55.231" v="10470"/>
          <ac:spMkLst>
            <pc:docMk/>
            <pc:sldMk cId="3335183003" sldId="268"/>
            <ac:spMk id="3" creationId="{3F0E3B95-039A-443C-8096-9828F2FD0F25}"/>
          </ac:spMkLst>
        </pc:spChg>
        <pc:picChg chg="add del mod">
          <ac:chgData name="andrew f" userId="ee9199d94de97360" providerId="LiveId" clId="{66F29D7A-481A-4A3D-8B7B-9713E9B5A81E}" dt="2020-12-22T04:21:48.131" v="5037" actId="21"/>
          <ac:picMkLst>
            <pc:docMk/>
            <pc:sldMk cId="3335183003" sldId="268"/>
            <ac:picMk id="6" creationId="{88E72926-4F4B-4106-9CDC-BC8CC98F41DA}"/>
          </ac:picMkLst>
        </pc:picChg>
        <pc:picChg chg="add del mod">
          <ac:chgData name="andrew f" userId="ee9199d94de97360" providerId="LiveId" clId="{66F29D7A-481A-4A3D-8B7B-9713E9B5A81E}" dt="2020-12-22T04:21:48.131" v="5037" actId="21"/>
          <ac:picMkLst>
            <pc:docMk/>
            <pc:sldMk cId="3335183003" sldId="268"/>
            <ac:picMk id="7" creationId="{5E73A162-4F7D-4848-AC53-0D07B706F5C2}"/>
          </ac:picMkLst>
        </pc:picChg>
        <pc:picChg chg="add del mod">
          <ac:chgData name="andrew f" userId="ee9199d94de97360" providerId="LiveId" clId="{66F29D7A-481A-4A3D-8B7B-9713E9B5A81E}" dt="2020-12-22T04:37:50.303" v="5095" actId="478"/>
          <ac:picMkLst>
            <pc:docMk/>
            <pc:sldMk cId="3335183003" sldId="268"/>
            <ac:picMk id="9" creationId="{B2C955EB-6915-4C3C-819F-2F0CD9238A77}"/>
          </ac:picMkLst>
        </pc:picChg>
        <pc:picChg chg="add del mod">
          <ac:chgData name="andrew f" userId="ee9199d94de97360" providerId="LiveId" clId="{66F29D7A-481A-4A3D-8B7B-9713E9B5A81E}" dt="2020-12-22T04:37:59.487" v="5098" actId="478"/>
          <ac:picMkLst>
            <pc:docMk/>
            <pc:sldMk cId="3335183003" sldId="268"/>
            <ac:picMk id="11" creationId="{F7426C4C-95CD-4324-9EBB-C5077E22E5FC}"/>
          </ac:picMkLst>
        </pc:picChg>
        <pc:picChg chg="add del mod">
          <ac:chgData name="andrew f" userId="ee9199d94de97360" providerId="LiveId" clId="{66F29D7A-481A-4A3D-8B7B-9713E9B5A81E}" dt="2020-12-22T04:36:31.352" v="5088" actId="478"/>
          <ac:picMkLst>
            <pc:docMk/>
            <pc:sldMk cId="3335183003" sldId="268"/>
            <ac:picMk id="4098" creationId="{E1DAB567-4663-433C-8BE6-F7E2321E99B1}"/>
          </ac:picMkLst>
        </pc:picChg>
        <pc:picChg chg="add del mod">
          <ac:chgData name="andrew f" userId="ee9199d94de97360" providerId="LiveId" clId="{66F29D7A-481A-4A3D-8B7B-9713E9B5A81E}" dt="2020-12-22T04:36:44.050" v="5093" actId="478"/>
          <ac:picMkLst>
            <pc:docMk/>
            <pc:sldMk cId="3335183003" sldId="268"/>
            <ac:picMk id="4100" creationId="{42291230-1992-4CE4-ACBC-58DFC5A33C68}"/>
          </ac:picMkLst>
        </pc:picChg>
        <pc:picChg chg="add del mod">
          <ac:chgData name="andrew f" userId="ee9199d94de97360" providerId="LiveId" clId="{66F29D7A-481A-4A3D-8B7B-9713E9B5A81E}" dt="2020-12-22T04:36:29.394" v="5087" actId="21"/>
          <ac:picMkLst>
            <pc:docMk/>
            <pc:sldMk cId="3335183003" sldId="268"/>
            <ac:picMk id="4102" creationId="{80A73978-64F2-4D31-B240-A91135C1C4A1}"/>
          </ac:picMkLst>
        </pc:picChg>
        <pc:picChg chg="add del mod">
          <ac:chgData name="andrew f" userId="ee9199d94de97360" providerId="LiveId" clId="{66F29D7A-481A-4A3D-8B7B-9713E9B5A81E}" dt="2020-12-22T04:36:42.564" v="5092" actId="21"/>
          <ac:picMkLst>
            <pc:docMk/>
            <pc:sldMk cId="3335183003" sldId="268"/>
            <ac:picMk id="4104" creationId="{62669FF0-55EE-454D-A376-69A3A68E26E2}"/>
          </ac:picMkLst>
        </pc:picChg>
        <pc:picChg chg="add del mod">
          <ac:chgData name="andrew f" userId="ee9199d94de97360" providerId="LiveId" clId="{66F29D7A-481A-4A3D-8B7B-9713E9B5A81E}" dt="2020-12-22T04:53:28.571" v="5584" actId="478"/>
          <ac:picMkLst>
            <pc:docMk/>
            <pc:sldMk cId="3335183003" sldId="268"/>
            <ac:picMk id="4106" creationId="{7F2B52E2-B255-499B-942F-736491353CD0}"/>
          </ac:picMkLst>
        </pc:picChg>
        <pc:picChg chg="add del mod">
          <ac:chgData name="andrew f" userId="ee9199d94de97360" providerId="LiveId" clId="{66F29D7A-481A-4A3D-8B7B-9713E9B5A81E}" dt="2020-12-22T04:53:34.259" v="5587" actId="478"/>
          <ac:picMkLst>
            <pc:docMk/>
            <pc:sldMk cId="3335183003" sldId="268"/>
            <ac:picMk id="4108" creationId="{B54CB518-2F94-416B-952B-908E690C88D8}"/>
          </ac:picMkLst>
        </pc:picChg>
        <pc:picChg chg="add mod">
          <ac:chgData name="andrew f" userId="ee9199d94de97360" providerId="LiveId" clId="{66F29D7A-481A-4A3D-8B7B-9713E9B5A81E}" dt="2020-12-22T04:53:30.894" v="5586" actId="1076"/>
          <ac:picMkLst>
            <pc:docMk/>
            <pc:sldMk cId="3335183003" sldId="268"/>
            <ac:picMk id="4110" creationId="{2B9BECB4-82CC-45EE-AA22-BD36A6EF2A03}"/>
          </ac:picMkLst>
        </pc:picChg>
        <pc:picChg chg="add mod">
          <ac:chgData name="andrew f" userId="ee9199d94de97360" providerId="LiveId" clId="{66F29D7A-481A-4A3D-8B7B-9713E9B5A81E}" dt="2020-12-22T04:53:39.767" v="5590" actId="1076"/>
          <ac:picMkLst>
            <pc:docMk/>
            <pc:sldMk cId="3335183003" sldId="268"/>
            <ac:picMk id="4112" creationId="{0698BA61-8B9D-48BF-8405-CC2F4272DD62}"/>
          </ac:picMkLst>
        </pc:picChg>
      </pc:sldChg>
      <pc:sldChg chg="addSp delSp modSp new mod modNotesTx">
        <pc:chgData name="andrew f" userId="ee9199d94de97360" providerId="LiveId" clId="{66F29D7A-481A-4A3D-8B7B-9713E9B5A81E}" dt="2020-12-22T16:16:56.298" v="18929" actId="20577"/>
        <pc:sldMkLst>
          <pc:docMk/>
          <pc:sldMk cId="4123275801" sldId="269"/>
        </pc:sldMkLst>
        <pc:spChg chg="mod">
          <ac:chgData name="andrew f" userId="ee9199d94de97360" providerId="LiveId" clId="{66F29D7A-481A-4A3D-8B7B-9713E9B5A81E}" dt="2020-12-22T05:46:55.231" v="10470"/>
          <ac:spMkLst>
            <pc:docMk/>
            <pc:sldMk cId="4123275801" sldId="269"/>
            <ac:spMk id="2" creationId="{3AA1BEF7-6CF7-4A73-87A6-F6B268DA27E4}"/>
          </ac:spMkLst>
        </pc:spChg>
        <pc:spChg chg="mod">
          <ac:chgData name="andrew f" userId="ee9199d94de97360" providerId="LiveId" clId="{66F29D7A-481A-4A3D-8B7B-9713E9B5A81E}" dt="2020-12-22T05:46:55.231" v="10470"/>
          <ac:spMkLst>
            <pc:docMk/>
            <pc:sldMk cId="4123275801" sldId="269"/>
            <ac:spMk id="3" creationId="{F0A24C03-4923-4E57-BE23-026466DEEEFF}"/>
          </ac:spMkLst>
        </pc:spChg>
        <pc:picChg chg="add del mod">
          <ac:chgData name="andrew f" userId="ee9199d94de97360" providerId="LiveId" clId="{66F29D7A-481A-4A3D-8B7B-9713E9B5A81E}" dt="2020-12-22T05:02:14.154" v="5929" actId="478"/>
          <ac:picMkLst>
            <pc:docMk/>
            <pc:sldMk cId="4123275801" sldId="269"/>
            <ac:picMk id="5122" creationId="{7185F4BC-3D1F-40A7-9694-8E97EB4DDED7}"/>
          </ac:picMkLst>
        </pc:picChg>
        <pc:picChg chg="add del mod">
          <ac:chgData name="andrew f" userId="ee9199d94de97360" providerId="LiveId" clId="{66F29D7A-481A-4A3D-8B7B-9713E9B5A81E}" dt="2020-12-22T05:02:14.154" v="5929" actId="478"/>
          <ac:picMkLst>
            <pc:docMk/>
            <pc:sldMk cId="4123275801" sldId="269"/>
            <ac:picMk id="5124" creationId="{1566A97A-245C-4212-B2EF-39655675A3A0}"/>
          </ac:picMkLst>
        </pc:picChg>
      </pc:sldChg>
      <pc:sldChg chg="modSp new mod modNotesTx">
        <pc:chgData name="andrew f" userId="ee9199d94de97360" providerId="LiveId" clId="{66F29D7A-481A-4A3D-8B7B-9713E9B5A81E}" dt="2020-12-22T07:19:10.082" v="17576" actId="20577"/>
        <pc:sldMkLst>
          <pc:docMk/>
          <pc:sldMk cId="975571500" sldId="270"/>
        </pc:sldMkLst>
        <pc:spChg chg="mod">
          <ac:chgData name="andrew f" userId="ee9199d94de97360" providerId="LiveId" clId="{66F29D7A-481A-4A3D-8B7B-9713E9B5A81E}" dt="2020-12-22T05:46:55.231" v="10470"/>
          <ac:spMkLst>
            <pc:docMk/>
            <pc:sldMk cId="975571500" sldId="270"/>
            <ac:spMk id="2" creationId="{B61B9EDF-ADA6-400B-B828-B854171EDDED}"/>
          </ac:spMkLst>
        </pc:spChg>
        <pc:spChg chg="mod">
          <ac:chgData name="andrew f" userId="ee9199d94de97360" providerId="LiveId" clId="{66F29D7A-481A-4A3D-8B7B-9713E9B5A81E}" dt="2020-12-22T07:14:12.286" v="16287" actId="20577"/>
          <ac:spMkLst>
            <pc:docMk/>
            <pc:sldMk cId="975571500" sldId="270"/>
            <ac:spMk id="3" creationId="{1B2831C0-521C-47CF-A07F-9A752F46C37E}"/>
          </ac:spMkLst>
        </pc:spChg>
      </pc:sldChg>
      <pc:sldChg chg="addSp delSp modSp new mod modNotesTx">
        <pc:chgData name="andrew f" userId="ee9199d94de97360" providerId="LiveId" clId="{66F29D7A-481A-4A3D-8B7B-9713E9B5A81E}" dt="2020-12-22T07:13:18.929" v="16193" actId="20577"/>
        <pc:sldMkLst>
          <pc:docMk/>
          <pc:sldMk cId="1401850566" sldId="271"/>
        </pc:sldMkLst>
        <pc:spChg chg="mod">
          <ac:chgData name="andrew f" userId="ee9199d94de97360" providerId="LiveId" clId="{66F29D7A-481A-4A3D-8B7B-9713E9B5A81E}" dt="2020-12-22T05:46:55.231" v="10470"/>
          <ac:spMkLst>
            <pc:docMk/>
            <pc:sldMk cId="1401850566" sldId="271"/>
            <ac:spMk id="2" creationId="{627C610A-0E1C-455E-B438-1C88BC56E4D8}"/>
          </ac:spMkLst>
        </pc:spChg>
        <pc:spChg chg="mod">
          <ac:chgData name="andrew f" userId="ee9199d94de97360" providerId="LiveId" clId="{66F29D7A-481A-4A3D-8B7B-9713E9B5A81E}" dt="2020-12-22T07:05:39.401" v="15194" actId="20577"/>
          <ac:spMkLst>
            <pc:docMk/>
            <pc:sldMk cId="1401850566" sldId="271"/>
            <ac:spMk id="3" creationId="{E2998A5C-5DDA-49BF-B70D-5AE52BD91C50}"/>
          </ac:spMkLst>
        </pc:spChg>
        <pc:picChg chg="add del mod">
          <ac:chgData name="andrew f" userId="ee9199d94de97360" providerId="LiveId" clId="{66F29D7A-481A-4A3D-8B7B-9713E9B5A81E}" dt="2020-12-22T05:02:06.562" v="5926" actId="478"/>
          <ac:picMkLst>
            <pc:docMk/>
            <pc:sldMk cId="1401850566" sldId="271"/>
            <ac:picMk id="4" creationId="{9D125A8C-74BB-42D4-850B-EB7BE215C085}"/>
          </ac:picMkLst>
        </pc:picChg>
        <pc:picChg chg="add del mod">
          <ac:chgData name="andrew f" userId="ee9199d94de97360" providerId="LiveId" clId="{66F29D7A-481A-4A3D-8B7B-9713E9B5A81E}" dt="2020-12-22T05:05:51.497" v="6194" actId="21"/>
          <ac:picMkLst>
            <pc:docMk/>
            <pc:sldMk cId="1401850566" sldId="271"/>
            <ac:picMk id="5" creationId="{05DC5530-E91B-4DC9-BE9C-E4B4E8929BF0}"/>
          </ac:picMkLst>
        </pc:picChg>
        <pc:picChg chg="add del mod">
          <ac:chgData name="andrew f" userId="ee9199d94de97360" providerId="LiveId" clId="{66F29D7A-481A-4A3D-8B7B-9713E9B5A81E}" dt="2020-12-22T05:05:51.497" v="6194" actId="21"/>
          <ac:picMkLst>
            <pc:docMk/>
            <pc:sldMk cId="1401850566" sldId="271"/>
            <ac:picMk id="6" creationId="{CE86EE4B-DB46-4322-887A-F8E2AFACCD88}"/>
          </ac:picMkLst>
        </pc:picChg>
        <pc:picChg chg="add mod">
          <ac:chgData name="andrew f" userId="ee9199d94de97360" providerId="LiveId" clId="{66F29D7A-481A-4A3D-8B7B-9713E9B5A81E}" dt="2020-12-22T05:05:56.448" v="6196" actId="1076"/>
          <ac:picMkLst>
            <pc:docMk/>
            <pc:sldMk cId="1401850566" sldId="271"/>
            <ac:picMk id="7" creationId="{12456BA4-B5C5-4C65-A03B-2D313740D450}"/>
          </ac:picMkLst>
        </pc:picChg>
        <pc:picChg chg="add mod">
          <ac:chgData name="andrew f" userId="ee9199d94de97360" providerId="LiveId" clId="{66F29D7A-481A-4A3D-8B7B-9713E9B5A81E}" dt="2020-12-22T05:05:57.994" v="6197" actId="1076"/>
          <ac:picMkLst>
            <pc:docMk/>
            <pc:sldMk cId="1401850566" sldId="271"/>
            <ac:picMk id="8" creationId="{818FCD3F-A23D-4733-92D7-13A2E664A842}"/>
          </ac:picMkLst>
        </pc:picChg>
      </pc:sldChg>
      <pc:sldChg chg="addSp modSp new mod modNotesTx">
        <pc:chgData name="andrew f" userId="ee9199d94de97360" providerId="LiveId" clId="{66F29D7A-481A-4A3D-8B7B-9713E9B5A81E}" dt="2020-12-22T16:23:14.077" v="19336" actId="20577"/>
        <pc:sldMkLst>
          <pc:docMk/>
          <pc:sldMk cId="2556067634" sldId="272"/>
        </pc:sldMkLst>
        <pc:spChg chg="mod">
          <ac:chgData name="andrew f" userId="ee9199d94de97360" providerId="LiveId" clId="{66F29D7A-481A-4A3D-8B7B-9713E9B5A81E}" dt="2020-12-22T05:46:55.231" v="10470"/>
          <ac:spMkLst>
            <pc:docMk/>
            <pc:sldMk cId="2556067634" sldId="272"/>
            <ac:spMk id="2" creationId="{9EF04F6B-1002-4E66-B1EF-F378A46CB20D}"/>
          </ac:spMkLst>
        </pc:spChg>
        <pc:spChg chg="mod">
          <ac:chgData name="andrew f" userId="ee9199d94de97360" providerId="LiveId" clId="{66F29D7A-481A-4A3D-8B7B-9713E9B5A81E}" dt="2020-12-22T05:46:55.231" v="10470"/>
          <ac:spMkLst>
            <pc:docMk/>
            <pc:sldMk cId="2556067634" sldId="272"/>
            <ac:spMk id="3" creationId="{90C19F9D-8766-4929-89EC-71132808CD9D}"/>
          </ac:spMkLst>
        </pc:spChg>
        <pc:picChg chg="add mod">
          <ac:chgData name="andrew f" userId="ee9199d94de97360" providerId="LiveId" clId="{66F29D7A-481A-4A3D-8B7B-9713E9B5A81E}" dt="2020-12-22T05:06:02.978" v="6198" actId="1076"/>
          <ac:picMkLst>
            <pc:docMk/>
            <pc:sldMk cId="2556067634" sldId="272"/>
            <ac:picMk id="4" creationId="{1EDFA595-150A-4409-9F33-A34A11E2F05A}"/>
          </ac:picMkLst>
        </pc:picChg>
        <pc:picChg chg="add mod">
          <ac:chgData name="andrew f" userId="ee9199d94de97360" providerId="LiveId" clId="{66F29D7A-481A-4A3D-8B7B-9713E9B5A81E}" dt="2020-12-22T05:06:07.978" v="6199" actId="1076"/>
          <ac:picMkLst>
            <pc:docMk/>
            <pc:sldMk cId="2556067634" sldId="272"/>
            <ac:picMk id="5" creationId="{0E78CFEF-87E0-4E45-BAA1-DA70CFA99AA9}"/>
          </ac:picMkLst>
        </pc:picChg>
      </pc:sldChg>
      <pc:sldChg chg="delSp modSp new mod">
        <pc:chgData name="andrew f" userId="ee9199d94de97360" providerId="LiveId" clId="{66F29D7A-481A-4A3D-8B7B-9713E9B5A81E}" dt="2020-12-22T07:19:25.108" v="17588" actId="478"/>
        <pc:sldMkLst>
          <pc:docMk/>
          <pc:sldMk cId="2424427807" sldId="273"/>
        </pc:sldMkLst>
        <pc:spChg chg="mod">
          <ac:chgData name="andrew f" userId="ee9199d94de97360" providerId="LiveId" clId="{66F29D7A-481A-4A3D-8B7B-9713E9B5A81E}" dt="2020-12-22T07:19:22.178" v="17587" actId="20577"/>
          <ac:spMkLst>
            <pc:docMk/>
            <pc:sldMk cId="2424427807" sldId="273"/>
            <ac:spMk id="2" creationId="{519E26C9-69CE-4A5A-885D-E13E695348B3}"/>
          </ac:spMkLst>
        </pc:spChg>
        <pc:spChg chg="del">
          <ac:chgData name="andrew f" userId="ee9199d94de97360" providerId="LiveId" clId="{66F29D7A-481A-4A3D-8B7B-9713E9B5A81E}" dt="2020-12-22T07:19:25.108" v="17588" actId="478"/>
          <ac:spMkLst>
            <pc:docMk/>
            <pc:sldMk cId="2424427807" sldId="273"/>
            <ac:spMk id="3" creationId="{EB391104-1A13-4437-8DB0-5031CD75D58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ee9199d94de97360/Desktop/Product%20Analytics%20Business%20Case%20Interview%20Dat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ee9199d94de97360/Desktop/Product%20Analytics%20Business%20Case%20Interview%20Dat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ee9199d94de97360/Desktop/Product%20Analytics%20Business%20Case%20Interview%20Dat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ee9199d94de97360/Desktop/Product%20Analytics%20Business%20Case%20Interview%20Data.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Client Utilization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'[Product Analytics Business Case Interview Data.xlsx]Sheet2'!$B$9</c:f>
              <c:strCache>
                <c:ptCount val="1"/>
                <c:pt idx="0">
                  <c:v>Using</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 Analytics Business Case Interview Data.xlsx]Sheet2'!$A$10:$A$11</c:f>
              <c:strCache>
                <c:ptCount val="2"/>
                <c:pt idx="0">
                  <c:v>New Coding</c:v>
                </c:pt>
                <c:pt idx="1">
                  <c:v>New Appeal</c:v>
                </c:pt>
              </c:strCache>
            </c:strRef>
          </c:cat>
          <c:val>
            <c:numRef>
              <c:f>'[Product Analytics Business Case Interview Data.xlsx]Sheet2'!$B$10:$B$11</c:f>
              <c:numCache>
                <c:formatCode>General</c:formatCode>
                <c:ptCount val="2"/>
                <c:pt idx="0">
                  <c:v>558</c:v>
                </c:pt>
                <c:pt idx="1">
                  <c:v>477</c:v>
                </c:pt>
              </c:numCache>
            </c:numRef>
          </c:val>
          <c:extLst>
            <c:ext xmlns:c16="http://schemas.microsoft.com/office/drawing/2014/chart" uri="{C3380CC4-5D6E-409C-BE32-E72D297353CC}">
              <c16:uniqueId val="{00000000-907F-4AD8-8B06-99F0531A6601}"/>
            </c:ext>
          </c:extLst>
        </c:ser>
        <c:ser>
          <c:idx val="1"/>
          <c:order val="1"/>
          <c:tx>
            <c:strRef>
              <c:f>'[Product Analytics Business Case Interview Data.xlsx]Sheet2'!$C$9</c:f>
              <c:strCache>
                <c:ptCount val="1"/>
                <c:pt idx="0">
                  <c:v>Not Using</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 Analytics Business Case Interview Data.xlsx]Sheet2'!$A$10:$A$11</c:f>
              <c:strCache>
                <c:ptCount val="2"/>
                <c:pt idx="0">
                  <c:v>New Coding</c:v>
                </c:pt>
                <c:pt idx="1">
                  <c:v>New Appeal</c:v>
                </c:pt>
              </c:strCache>
            </c:strRef>
          </c:cat>
          <c:val>
            <c:numRef>
              <c:f>'[Product Analytics Business Case Interview Data.xlsx]Sheet2'!$C$10:$C$11</c:f>
              <c:numCache>
                <c:formatCode>General</c:formatCode>
                <c:ptCount val="2"/>
                <c:pt idx="0">
                  <c:v>500</c:v>
                </c:pt>
                <c:pt idx="1">
                  <c:v>581</c:v>
                </c:pt>
              </c:numCache>
            </c:numRef>
          </c:val>
          <c:extLst>
            <c:ext xmlns:c16="http://schemas.microsoft.com/office/drawing/2014/chart" uri="{C3380CC4-5D6E-409C-BE32-E72D297353CC}">
              <c16:uniqueId val="{00000001-907F-4AD8-8B06-99F0531A6601}"/>
            </c:ext>
          </c:extLst>
        </c:ser>
        <c:dLbls>
          <c:dLblPos val="ctr"/>
          <c:showLegendKey val="0"/>
          <c:showVal val="1"/>
          <c:showCatName val="0"/>
          <c:showSerName val="0"/>
          <c:showPercent val="0"/>
          <c:showBubbleSize val="0"/>
        </c:dLbls>
        <c:gapWidth val="150"/>
        <c:overlap val="100"/>
        <c:axId val="1158087407"/>
        <c:axId val="1158084079"/>
      </c:barChart>
      <c:catAx>
        <c:axId val="115808740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Functionality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8084079"/>
        <c:crosses val="autoZero"/>
        <c:auto val="1"/>
        <c:lblAlgn val="ctr"/>
        <c:lblOffset val="100"/>
        <c:noMultiLvlLbl val="0"/>
      </c:catAx>
      <c:valAx>
        <c:axId val="11580840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Utilization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808740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Client Utilization (legacy)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'[Product Analytics Business Case Interview Data.xlsx]Sheet2'!$S$7</c:f>
              <c:strCache>
                <c:ptCount val="1"/>
                <c:pt idx="0">
                  <c:v>Using</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 Analytics Business Case Interview Data.xlsx]Sheet2'!$R$8:$R$9</c:f>
              <c:strCache>
                <c:ptCount val="2"/>
                <c:pt idx="0">
                  <c:v>Legacy Coding</c:v>
                </c:pt>
                <c:pt idx="1">
                  <c:v>Legacy Appeal</c:v>
                </c:pt>
              </c:strCache>
            </c:strRef>
          </c:cat>
          <c:val>
            <c:numRef>
              <c:f>'[Product Analytics Business Case Interview Data.xlsx]Sheet2'!$S$8:$S$9</c:f>
              <c:numCache>
                <c:formatCode>General</c:formatCode>
                <c:ptCount val="2"/>
                <c:pt idx="0">
                  <c:v>1030</c:v>
                </c:pt>
                <c:pt idx="1">
                  <c:v>691</c:v>
                </c:pt>
              </c:numCache>
            </c:numRef>
          </c:val>
          <c:extLst>
            <c:ext xmlns:c16="http://schemas.microsoft.com/office/drawing/2014/chart" uri="{C3380CC4-5D6E-409C-BE32-E72D297353CC}">
              <c16:uniqueId val="{00000000-D322-4653-9E43-57CD72A8C65B}"/>
            </c:ext>
          </c:extLst>
        </c:ser>
        <c:ser>
          <c:idx val="1"/>
          <c:order val="1"/>
          <c:tx>
            <c:strRef>
              <c:f>'[Product Analytics Business Case Interview Data.xlsx]Sheet2'!$T$7</c:f>
              <c:strCache>
                <c:ptCount val="1"/>
                <c:pt idx="0">
                  <c:v>Not Using</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 Analytics Business Case Interview Data.xlsx]Sheet2'!$R$8:$R$9</c:f>
              <c:strCache>
                <c:ptCount val="2"/>
                <c:pt idx="0">
                  <c:v>Legacy Coding</c:v>
                </c:pt>
                <c:pt idx="1">
                  <c:v>Legacy Appeal</c:v>
                </c:pt>
              </c:strCache>
            </c:strRef>
          </c:cat>
          <c:val>
            <c:numRef>
              <c:f>'[Product Analytics Business Case Interview Data.xlsx]Sheet2'!$T$8:$T$9</c:f>
              <c:numCache>
                <c:formatCode>General</c:formatCode>
                <c:ptCount val="2"/>
                <c:pt idx="0">
                  <c:v>28</c:v>
                </c:pt>
                <c:pt idx="1">
                  <c:v>367</c:v>
                </c:pt>
              </c:numCache>
            </c:numRef>
          </c:val>
          <c:extLst>
            <c:ext xmlns:c16="http://schemas.microsoft.com/office/drawing/2014/chart" uri="{C3380CC4-5D6E-409C-BE32-E72D297353CC}">
              <c16:uniqueId val="{00000001-D322-4653-9E43-57CD72A8C65B}"/>
            </c:ext>
          </c:extLst>
        </c:ser>
        <c:dLbls>
          <c:dLblPos val="ctr"/>
          <c:showLegendKey val="0"/>
          <c:showVal val="1"/>
          <c:showCatName val="0"/>
          <c:showSerName val="0"/>
          <c:showPercent val="0"/>
          <c:showBubbleSize val="0"/>
        </c:dLbls>
        <c:gapWidth val="150"/>
        <c:overlap val="100"/>
        <c:axId val="1912949199"/>
        <c:axId val="1912946703"/>
      </c:barChart>
      <c:catAx>
        <c:axId val="191294919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Functionality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2946703"/>
        <c:crosses val="autoZero"/>
        <c:auto val="1"/>
        <c:lblAlgn val="ctr"/>
        <c:lblOffset val="100"/>
        <c:noMultiLvlLbl val="0"/>
      </c:catAx>
      <c:valAx>
        <c:axId val="19129467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Utilization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294919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Utilization</a:t>
            </a:r>
            <a:r>
              <a:rPr lang="en-US" baseline="0"/>
              <a:t> by Client Size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'[Product Analytics Business Case Interview Data.xlsx]Sheet2'!$I$21</c:f>
              <c:strCache>
                <c:ptCount val="1"/>
                <c:pt idx="0">
                  <c:v>New Coding</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 Analytics Business Case Interview Data.xlsx]Sheet2'!$J$20:$L$20</c:f>
              <c:strCache>
                <c:ptCount val="3"/>
                <c:pt idx="0">
                  <c:v>Small</c:v>
                </c:pt>
                <c:pt idx="1">
                  <c:v>Medium</c:v>
                </c:pt>
                <c:pt idx="2">
                  <c:v>Large</c:v>
                </c:pt>
              </c:strCache>
            </c:strRef>
          </c:cat>
          <c:val>
            <c:numRef>
              <c:f>'[Product Analytics Business Case Interview Data.xlsx]Sheet2'!$J$21:$L$21</c:f>
              <c:numCache>
                <c:formatCode>0%</c:formatCode>
                <c:ptCount val="3"/>
                <c:pt idx="0">
                  <c:v>0.49629629629629629</c:v>
                </c:pt>
                <c:pt idx="1">
                  <c:v>0.58544303797468356</c:v>
                </c:pt>
                <c:pt idx="2">
                  <c:v>0.51038575667655783</c:v>
                </c:pt>
              </c:numCache>
            </c:numRef>
          </c:val>
          <c:extLst>
            <c:ext xmlns:c16="http://schemas.microsoft.com/office/drawing/2014/chart" uri="{C3380CC4-5D6E-409C-BE32-E72D297353CC}">
              <c16:uniqueId val="{00000000-B8E0-41CE-996D-D1F5C80A1AAC}"/>
            </c:ext>
          </c:extLst>
        </c:ser>
        <c:ser>
          <c:idx val="1"/>
          <c:order val="1"/>
          <c:tx>
            <c:strRef>
              <c:f>'[Product Analytics Business Case Interview Data.xlsx]Sheet2'!$I$22</c:f>
              <c:strCache>
                <c:ptCount val="1"/>
                <c:pt idx="0">
                  <c:v>New Appeal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 Analytics Business Case Interview Data.xlsx]Sheet2'!$J$20:$L$20</c:f>
              <c:strCache>
                <c:ptCount val="3"/>
                <c:pt idx="0">
                  <c:v>Small</c:v>
                </c:pt>
                <c:pt idx="1">
                  <c:v>Medium</c:v>
                </c:pt>
                <c:pt idx="2">
                  <c:v>Large</c:v>
                </c:pt>
              </c:strCache>
            </c:strRef>
          </c:cat>
          <c:val>
            <c:numRef>
              <c:f>'[Product Analytics Business Case Interview Data.xlsx]Sheet2'!$J$22:$L$22</c:f>
              <c:numCache>
                <c:formatCode>0%</c:formatCode>
                <c:ptCount val="3"/>
                <c:pt idx="0">
                  <c:v>0.40246913580246912</c:v>
                </c:pt>
                <c:pt idx="1">
                  <c:v>0.5</c:v>
                </c:pt>
                <c:pt idx="2">
                  <c:v>0.4629080118694362</c:v>
                </c:pt>
              </c:numCache>
            </c:numRef>
          </c:val>
          <c:extLst>
            <c:ext xmlns:c16="http://schemas.microsoft.com/office/drawing/2014/chart" uri="{C3380CC4-5D6E-409C-BE32-E72D297353CC}">
              <c16:uniqueId val="{00000001-B8E0-41CE-996D-D1F5C80A1AAC}"/>
            </c:ext>
          </c:extLst>
        </c:ser>
        <c:dLbls>
          <c:dLblPos val="outEnd"/>
          <c:showLegendKey val="0"/>
          <c:showVal val="1"/>
          <c:showCatName val="0"/>
          <c:showSerName val="0"/>
          <c:showPercent val="0"/>
          <c:showBubbleSize val="0"/>
        </c:dLbls>
        <c:gapWidth val="219"/>
        <c:overlap val="-27"/>
        <c:axId val="189215743"/>
        <c:axId val="189221151"/>
      </c:barChart>
      <c:catAx>
        <c:axId val="1892157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Client Size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221151"/>
        <c:crosses val="autoZero"/>
        <c:auto val="1"/>
        <c:lblAlgn val="ctr"/>
        <c:lblOffset val="100"/>
        <c:noMultiLvlLbl val="0"/>
      </c:catAx>
      <c:valAx>
        <c:axId val="18922115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Utilization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21574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Utilization by Client Specialty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'[Product Analytics Business Case Interview Data.xlsx]Sheet2'!$A$42</c:f>
              <c:strCache>
                <c:ptCount val="1"/>
                <c:pt idx="0">
                  <c:v>New Coding</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 Analytics Business Case Interview Data.xlsx]Sheet2'!$B$41:$G$41</c:f>
              <c:strCache>
                <c:ptCount val="6"/>
                <c:pt idx="0">
                  <c:v>Pediatrics</c:v>
                </c:pt>
                <c:pt idx="1">
                  <c:v>Dermatology</c:v>
                </c:pt>
                <c:pt idx="2">
                  <c:v>Surgery</c:v>
                </c:pt>
                <c:pt idx="3">
                  <c:v>Oncology</c:v>
                </c:pt>
                <c:pt idx="4">
                  <c:v>Family Medicine</c:v>
                </c:pt>
                <c:pt idx="5">
                  <c:v>OB-GYN</c:v>
                </c:pt>
              </c:strCache>
            </c:strRef>
          </c:cat>
          <c:val>
            <c:numRef>
              <c:f>'[Product Analytics Business Case Interview Data.xlsx]Sheet2'!$B$42:$G$42</c:f>
              <c:numCache>
                <c:formatCode>0%</c:formatCode>
                <c:ptCount val="6"/>
                <c:pt idx="0">
                  <c:v>0.72</c:v>
                </c:pt>
                <c:pt idx="1">
                  <c:v>0.6</c:v>
                </c:pt>
                <c:pt idx="2">
                  <c:v>0.55673758865248224</c:v>
                </c:pt>
                <c:pt idx="3">
                  <c:v>0.45614035087719296</c:v>
                </c:pt>
                <c:pt idx="4">
                  <c:v>0.4437869822485207</c:v>
                </c:pt>
                <c:pt idx="5">
                  <c:v>0.43548387096774194</c:v>
                </c:pt>
              </c:numCache>
            </c:numRef>
          </c:val>
          <c:extLst>
            <c:ext xmlns:c16="http://schemas.microsoft.com/office/drawing/2014/chart" uri="{C3380CC4-5D6E-409C-BE32-E72D297353CC}">
              <c16:uniqueId val="{00000000-C8FC-4B39-9642-813C155447F8}"/>
            </c:ext>
          </c:extLst>
        </c:ser>
        <c:ser>
          <c:idx val="1"/>
          <c:order val="1"/>
          <c:tx>
            <c:strRef>
              <c:f>'[Product Analytics Business Case Interview Data.xlsx]Sheet2'!$A$43</c:f>
              <c:strCache>
                <c:ptCount val="1"/>
                <c:pt idx="0">
                  <c:v>New Appeal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 Analytics Business Case Interview Data.xlsx]Sheet2'!$B$41:$G$41</c:f>
              <c:strCache>
                <c:ptCount val="6"/>
                <c:pt idx="0">
                  <c:v>Pediatrics</c:v>
                </c:pt>
                <c:pt idx="1">
                  <c:v>Dermatology</c:v>
                </c:pt>
                <c:pt idx="2">
                  <c:v>Surgery</c:v>
                </c:pt>
                <c:pt idx="3">
                  <c:v>Oncology</c:v>
                </c:pt>
                <c:pt idx="4">
                  <c:v>Family Medicine</c:v>
                </c:pt>
                <c:pt idx="5">
                  <c:v>OB-GYN</c:v>
                </c:pt>
              </c:strCache>
            </c:strRef>
          </c:cat>
          <c:val>
            <c:numRef>
              <c:f>'[Product Analytics Business Case Interview Data.xlsx]Sheet2'!$B$43:$G$43</c:f>
              <c:numCache>
                <c:formatCode>0%</c:formatCode>
                <c:ptCount val="6"/>
                <c:pt idx="0">
                  <c:v>0.57599999999999996</c:v>
                </c:pt>
                <c:pt idx="1">
                  <c:v>0.51538461538461533</c:v>
                </c:pt>
                <c:pt idx="2">
                  <c:v>0.42907801418439717</c:v>
                </c:pt>
                <c:pt idx="3">
                  <c:v>0.42105263157894735</c:v>
                </c:pt>
                <c:pt idx="4">
                  <c:v>0.39644970414201186</c:v>
                </c:pt>
                <c:pt idx="5">
                  <c:v>0.43548387096774194</c:v>
                </c:pt>
              </c:numCache>
            </c:numRef>
          </c:val>
          <c:extLst>
            <c:ext xmlns:c16="http://schemas.microsoft.com/office/drawing/2014/chart" uri="{C3380CC4-5D6E-409C-BE32-E72D297353CC}">
              <c16:uniqueId val="{00000001-C8FC-4B39-9642-813C155447F8}"/>
            </c:ext>
          </c:extLst>
        </c:ser>
        <c:dLbls>
          <c:dLblPos val="outEnd"/>
          <c:showLegendKey val="0"/>
          <c:showVal val="1"/>
          <c:showCatName val="0"/>
          <c:showSerName val="0"/>
          <c:showPercent val="0"/>
          <c:showBubbleSize val="0"/>
        </c:dLbls>
        <c:gapWidth val="219"/>
        <c:overlap val="-27"/>
        <c:axId val="1994512463"/>
        <c:axId val="1994514959"/>
      </c:barChart>
      <c:catAx>
        <c:axId val="199451246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Client</a:t>
                </a:r>
                <a:r>
                  <a:rPr lang="en-US" baseline="0"/>
                  <a:t> Specialty</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4514959"/>
        <c:crosses val="autoZero"/>
        <c:auto val="1"/>
        <c:lblAlgn val="ctr"/>
        <c:lblOffset val="100"/>
        <c:noMultiLvlLbl val="0"/>
      </c:catAx>
      <c:valAx>
        <c:axId val="19945149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Utilization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451246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9D2CE2-F6BC-4CB2-AABB-35CED1BE5584}" type="datetimeFigureOut">
              <a:rPr lang="en-US" smtClean="0"/>
              <a:t>12/22/2020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3F018F-E94B-4EC8-8E43-B4DA087BC344}" type="slidenum">
              <a:rPr lang="en-US" smtClean="0"/>
              <a:t>‹#›</a:t>
            </a:fld>
            <a:endParaRPr lang="en-US"/>
          </a:p>
        </p:txBody>
      </p:sp>
    </p:spTree>
    <p:extLst>
      <p:ext uri="{BB962C8B-B14F-4D97-AF65-F5344CB8AC3E}">
        <p14:creationId xmlns:p14="http://schemas.microsoft.com/office/powerpoint/2010/main" val="365721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Today I will be presenting about the product analytics business case that was provided to me as part of the interview process</a:t>
            </a:r>
          </a:p>
        </p:txBody>
      </p:sp>
      <p:sp>
        <p:nvSpPr>
          <p:cNvPr id="4" name="Slide Number Placeholder 3"/>
          <p:cNvSpPr>
            <a:spLocks noGrp="1"/>
          </p:cNvSpPr>
          <p:nvPr>
            <p:ph type="sldNum" sz="quarter" idx="5"/>
          </p:nvPr>
        </p:nvSpPr>
        <p:spPr/>
        <p:txBody>
          <a:bodyPr/>
          <a:lstStyle/>
          <a:p>
            <a:fld id="{4E3F018F-E94B-4EC8-8E43-B4DA087BC344}" type="slidenum">
              <a:rPr lang="en-US" smtClean="0"/>
              <a:t>1</a:t>
            </a:fld>
            <a:endParaRPr lang="en-US"/>
          </a:p>
        </p:txBody>
      </p:sp>
    </p:spTree>
    <p:extLst>
      <p:ext uri="{BB962C8B-B14F-4D97-AF65-F5344CB8AC3E}">
        <p14:creationId xmlns:p14="http://schemas.microsoft.com/office/powerpoint/2010/main" val="2140302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Here is a little background information</a:t>
            </a:r>
          </a:p>
          <a:p>
            <a:pPr marL="171450" indent="-171450">
              <a:buFontTx/>
              <a:buChar char="-"/>
            </a:pPr>
            <a:r>
              <a:rPr lang="en-US" dirty="0"/>
              <a:t>Three months ago, the team released a new product feature to a set of test clients</a:t>
            </a:r>
          </a:p>
          <a:p>
            <a:pPr marL="171450" indent="-171450">
              <a:buFontTx/>
              <a:buChar char="-"/>
            </a:pPr>
            <a:r>
              <a:rPr lang="en-US" dirty="0"/>
              <a:t>The feature </a:t>
            </a:r>
            <a:r>
              <a:rPr lang="en-US"/>
              <a:t>is an improvement </a:t>
            </a:r>
            <a:r>
              <a:rPr lang="en-US" dirty="0"/>
              <a:t>to the legacy Coding and Appeal workflows</a:t>
            </a:r>
          </a:p>
          <a:p>
            <a:pPr marL="171450" indent="-171450">
              <a:buFontTx/>
              <a:buChar char="-"/>
            </a:pPr>
            <a:r>
              <a:rPr lang="en-US" dirty="0"/>
              <a:t>The clients now have the ability to use the new functionality as well as the legacy version</a:t>
            </a:r>
          </a:p>
          <a:p>
            <a:pPr marL="171450" indent="-171450">
              <a:buFontTx/>
              <a:buChar char="-"/>
            </a:pPr>
            <a:r>
              <a:rPr lang="en-US" dirty="0"/>
              <a:t>The definition of coding and appeals are in the appendix</a:t>
            </a:r>
          </a:p>
          <a:p>
            <a:pPr marL="171450" indent="-171450">
              <a:buFontTx/>
              <a:buChar char="-"/>
            </a:pPr>
            <a:r>
              <a:rPr lang="en-US" dirty="0"/>
              <a:t>Coding is when someone has to add a medical billing code to a claim for the patient services rendered</a:t>
            </a:r>
          </a:p>
          <a:p>
            <a:pPr marL="171450" indent="-171450">
              <a:buFontTx/>
              <a:buChar char="-"/>
            </a:pPr>
            <a:r>
              <a:rPr lang="en-US" dirty="0"/>
              <a:t>Appealing is when you receive a lower than expected payment for a claim and an appeal is made </a:t>
            </a:r>
          </a:p>
        </p:txBody>
      </p:sp>
      <p:sp>
        <p:nvSpPr>
          <p:cNvPr id="4" name="Slide Number Placeholder 3"/>
          <p:cNvSpPr>
            <a:spLocks noGrp="1"/>
          </p:cNvSpPr>
          <p:nvPr>
            <p:ph type="sldNum" sz="quarter" idx="5"/>
          </p:nvPr>
        </p:nvSpPr>
        <p:spPr/>
        <p:txBody>
          <a:bodyPr/>
          <a:lstStyle/>
          <a:p>
            <a:fld id="{4E3F018F-E94B-4EC8-8E43-B4DA087BC344}" type="slidenum">
              <a:rPr lang="en-US" smtClean="0"/>
              <a:t>2</a:t>
            </a:fld>
            <a:endParaRPr lang="en-US"/>
          </a:p>
        </p:txBody>
      </p:sp>
    </p:spTree>
    <p:extLst>
      <p:ext uri="{BB962C8B-B14F-4D97-AF65-F5344CB8AC3E}">
        <p14:creationId xmlns:p14="http://schemas.microsoft.com/office/powerpoint/2010/main" val="656584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data I have is from the past three months of clients that are categorized in certain groupings</a:t>
            </a:r>
          </a:p>
          <a:p>
            <a:pPr marL="171450" indent="-171450">
              <a:buFontTx/>
              <a:buChar char="-"/>
            </a:pPr>
            <a:r>
              <a:rPr lang="en-US" dirty="0"/>
              <a:t>These groupings are the size of the company (small, medium, large)</a:t>
            </a:r>
          </a:p>
          <a:p>
            <a:pPr marL="171450" indent="-171450">
              <a:buFontTx/>
              <a:buChar char="-"/>
            </a:pPr>
            <a:r>
              <a:rPr lang="en-US" dirty="0"/>
              <a:t>Status of the client (live or terminated)</a:t>
            </a:r>
          </a:p>
          <a:p>
            <a:pPr marL="171450" indent="-171450">
              <a:buFontTx/>
              <a:buChar char="-"/>
            </a:pPr>
            <a:r>
              <a:rPr lang="en-US" dirty="0"/>
              <a:t>Specialty of the client (dermatology, family medicine, OB-GYN, oncology, pediatrics, surgery)</a:t>
            </a:r>
          </a:p>
          <a:p>
            <a:pPr marL="171450" indent="-171450">
              <a:buFontTx/>
              <a:buChar char="-"/>
            </a:pPr>
            <a:r>
              <a:rPr lang="en-US" dirty="0"/>
              <a:t>We also have their weekly usage counts for the Coding and Appeal actions for the new and legacy workflows</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4E3F018F-E94B-4EC8-8E43-B4DA087BC344}" type="slidenum">
              <a:rPr lang="en-US" smtClean="0"/>
              <a:t>3</a:t>
            </a:fld>
            <a:endParaRPr lang="en-US"/>
          </a:p>
        </p:txBody>
      </p:sp>
    </p:spTree>
    <p:extLst>
      <p:ext uri="{BB962C8B-B14F-4D97-AF65-F5344CB8AC3E}">
        <p14:creationId xmlns:p14="http://schemas.microsoft.com/office/powerpoint/2010/main" val="2302290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3F018F-E94B-4EC8-8E43-B4DA087BC344}" type="slidenum">
              <a:rPr lang="en-US" smtClean="0"/>
              <a:t>4</a:t>
            </a:fld>
            <a:endParaRPr lang="en-US"/>
          </a:p>
        </p:txBody>
      </p:sp>
    </p:spTree>
    <p:extLst>
      <p:ext uri="{BB962C8B-B14F-4D97-AF65-F5344CB8AC3E}">
        <p14:creationId xmlns:p14="http://schemas.microsoft.com/office/powerpoint/2010/main" val="4094826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Before we start, I have to provide some assumptions that I made for this data because this is a made up data set and there is no actual context around it</a:t>
            </a:r>
          </a:p>
          <a:p>
            <a:pPr marL="171450" indent="-171450">
              <a:buFontTx/>
              <a:buChar char="-"/>
            </a:pPr>
            <a:r>
              <a:rPr lang="en-US" dirty="0"/>
              <a:t>I excluded all clients that were labeled as terminated </a:t>
            </a:r>
          </a:p>
          <a:p>
            <a:pPr marL="171450" indent="-171450">
              <a:buFontTx/>
              <a:buChar char="-"/>
            </a:pPr>
            <a:r>
              <a:rPr lang="en-US" dirty="0"/>
              <a:t>The data included holidays such as Christmas and New Years so I am treating that as a normal work day</a:t>
            </a:r>
          </a:p>
          <a:p>
            <a:pPr marL="171450" indent="-171450">
              <a:buFontTx/>
              <a:buChar char="-"/>
            </a:pPr>
            <a:r>
              <a:rPr lang="en-US" dirty="0"/>
              <a:t>The data is grouped by weeks (5 work days)</a:t>
            </a:r>
          </a:p>
          <a:p>
            <a:pPr marL="171450" indent="-171450">
              <a:buFontTx/>
              <a:buChar char="-"/>
            </a:pPr>
            <a:r>
              <a:rPr lang="en-US" dirty="0"/>
              <a:t>I will also assume that there are no new clients that joined midway during this test</a:t>
            </a:r>
          </a:p>
          <a:p>
            <a:pPr marL="171450" indent="-171450">
              <a:buFontTx/>
              <a:buChar char="-"/>
            </a:pPr>
            <a:r>
              <a:rPr lang="en-US" dirty="0"/>
              <a:t>Some clients only have data for 1 or 2 weeks and I will not view them as new clients or else I might want to remove them from the dataset</a:t>
            </a:r>
          </a:p>
          <a:p>
            <a:pPr marL="171450" indent="-171450">
              <a:buFontTx/>
              <a:buChar char="-"/>
            </a:pPr>
            <a:r>
              <a:rPr lang="en-US" dirty="0"/>
              <a:t>But since this is a made up dataset, I want to keep it simple and not make the analysis more complex for a reason that might not actually be true</a:t>
            </a:r>
          </a:p>
        </p:txBody>
      </p:sp>
      <p:sp>
        <p:nvSpPr>
          <p:cNvPr id="4" name="Slide Number Placeholder 3"/>
          <p:cNvSpPr>
            <a:spLocks noGrp="1"/>
          </p:cNvSpPr>
          <p:nvPr>
            <p:ph type="sldNum" sz="quarter" idx="5"/>
          </p:nvPr>
        </p:nvSpPr>
        <p:spPr/>
        <p:txBody>
          <a:bodyPr/>
          <a:lstStyle/>
          <a:p>
            <a:fld id="{4E3F018F-E94B-4EC8-8E43-B4DA087BC344}" type="slidenum">
              <a:rPr lang="en-US" smtClean="0"/>
              <a:t>5</a:t>
            </a:fld>
            <a:endParaRPr lang="en-US"/>
          </a:p>
        </p:txBody>
      </p:sp>
    </p:spTree>
    <p:extLst>
      <p:ext uri="{BB962C8B-B14F-4D97-AF65-F5344CB8AC3E}">
        <p14:creationId xmlns:p14="http://schemas.microsoft.com/office/powerpoint/2010/main" val="2647512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prompt asked to go over the client’s utilization of the new functionality</a:t>
            </a:r>
          </a:p>
          <a:p>
            <a:pPr marL="171450" indent="-171450">
              <a:buFontTx/>
              <a:buChar char="-"/>
            </a:pPr>
            <a:r>
              <a:rPr lang="en-US" dirty="0"/>
              <a:t>We can see that about 53% of clients used the new coding feature at least once within the 3 month timespan which is more than the new appeal feature which was used by about 45% of clients</a:t>
            </a:r>
          </a:p>
          <a:p>
            <a:pPr marL="171450" indent="-171450">
              <a:buFontTx/>
              <a:buChar char="-"/>
            </a:pPr>
            <a:r>
              <a:rPr lang="en-US" dirty="0"/>
              <a:t>We can also see that almost all clients are using the legacy coding action, but only about 2/3</a:t>
            </a:r>
            <a:r>
              <a:rPr lang="en-US" baseline="30000" dirty="0"/>
              <a:t>rd</a:t>
            </a:r>
            <a:r>
              <a:rPr lang="en-US" dirty="0"/>
              <a:t> used the legacy appeal function</a:t>
            </a:r>
          </a:p>
          <a:p>
            <a:pPr marL="171450" indent="-171450">
              <a:buFontTx/>
              <a:buChar char="-"/>
            </a:pPr>
            <a:r>
              <a:rPr lang="en-US" dirty="0"/>
              <a:t>So the coding action is more commonly used than the appeal action</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4E3F018F-E94B-4EC8-8E43-B4DA087BC344}" type="slidenum">
              <a:rPr lang="en-US" smtClean="0"/>
              <a:t>6</a:t>
            </a:fld>
            <a:endParaRPr lang="en-US"/>
          </a:p>
        </p:txBody>
      </p:sp>
    </p:spTree>
    <p:extLst>
      <p:ext uri="{BB962C8B-B14F-4D97-AF65-F5344CB8AC3E}">
        <p14:creationId xmlns:p14="http://schemas.microsoft.com/office/powerpoint/2010/main" val="1480496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utilization by client size</a:t>
            </a:r>
          </a:p>
          <a:p>
            <a:r>
              <a:rPr lang="en-US" dirty="0"/>
              <a:t>-When comparing the size of the client and their utilization rate, medium sized clients have the highest for both the new coding and appeal actions</a:t>
            </a:r>
          </a:p>
          <a:p>
            <a:r>
              <a:rPr lang="en-US" dirty="0"/>
              <a:t>-small clients have the lowest for both, but the utilization for the new coding is very similar between small and large clients (50% vs 51%)</a:t>
            </a:r>
          </a:p>
        </p:txBody>
      </p:sp>
      <p:sp>
        <p:nvSpPr>
          <p:cNvPr id="4" name="Slide Number Placeholder 3"/>
          <p:cNvSpPr>
            <a:spLocks noGrp="1"/>
          </p:cNvSpPr>
          <p:nvPr>
            <p:ph type="sldNum" sz="quarter" idx="5"/>
          </p:nvPr>
        </p:nvSpPr>
        <p:spPr/>
        <p:txBody>
          <a:bodyPr/>
          <a:lstStyle/>
          <a:p>
            <a:fld id="{4E3F018F-E94B-4EC8-8E43-B4DA087BC344}" type="slidenum">
              <a:rPr lang="en-US" smtClean="0"/>
              <a:t>7</a:t>
            </a:fld>
            <a:endParaRPr lang="en-US"/>
          </a:p>
        </p:txBody>
      </p:sp>
    </p:spTree>
    <p:extLst>
      <p:ext uri="{BB962C8B-B14F-4D97-AF65-F5344CB8AC3E}">
        <p14:creationId xmlns:p14="http://schemas.microsoft.com/office/powerpoint/2010/main" val="1977724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utilization by client specialty</a:t>
            </a:r>
          </a:p>
          <a:p>
            <a:r>
              <a:rPr lang="en-US" dirty="0"/>
              <a:t>-Pediatrics have the highest utilization for the new coding and appeal functions</a:t>
            </a:r>
          </a:p>
          <a:p>
            <a:r>
              <a:rPr lang="en-US" dirty="0"/>
              <a:t>-Family medicine has the lowest for the new appeal function and OB-GYN has the lowest for the new coding function, but it is very similar to family medicine (both 44%, but difference in decimal value)</a:t>
            </a:r>
          </a:p>
        </p:txBody>
      </p:sp>
      <p:sp>
        <p:nvSpPr>
          <p:cNvPr id="4" name="Slide Number Placeholder 3"/>
          <p:cNvSpPr>
            <a:spLocks noGrp="1"/>
          </p:cNvSpPr>
          <p:nvPr>
            <p:ph type="sldNum" sz="quarter" idx="5"/>
          </p:nvPr>
        </p:nvSpPr>
        <p:spPr/>
        <p:txBody>
          <a:bodyPr/>
          <a:lstStyle/>
          <a:p>
            <a:fld id="{4E3F018F-E94B-4EC8-8E43-B4DA087BC344}" type="slidenum">
              <a:rPr lang="en-US" smtClean="0"/>
              <a:t>8</a:t>
            </a:fld>
            <a:endParaRPr lang="en-US"/>
          </a:p>
        </p:txBody>
      </p:sp>
    </p:spTree>
    <p:extLst>
      <p:ext uri="{BB962C8B-B14F-4D97-AF65-F5344CB8AC3E}">
        <p14:creationId xmlns:p14="http://schemas.microsoft.com/office/powerpoint/2010/main" val="1643180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So another question that was in the prompt was to check if larger clients have higher usage rates?</a:t>
            </a:r>
          </a:p>
          <a:p>
            <a:pPr marL="171450" indent="-171450">
              <a:buFontTx/>
              <a:buChar char="-"/>
            </a:pPr>
            <a:r>
              <a:rPr lang="en-US" dirty="0"/>
              <a:t>This question can be answered differently depending on how you look at the data</a:t>
            </a:r>
          </a:p>
          <a:p>
            <a:pPr marL="171450" indent="-171450">
              <a:buFontTx/>
              <a:buChar char="-"/>
            </a:pPr>
            <a:r>
              <a:rPr lang="en-US" dirty="0"/>
              <a:t>We can see in the charts below that most specialty categories have clients that are the same size. For example, clients that specialize in family medicine are all labeled as small clients. </a:t>
            </a:r>
          </a:p>
          <a:p>
            <a:pPr marL="171450" indent="-171450">
              <a:buFontTx/>
              <a:buChar char="-"/>
            </a:pPr>
            <a:r>
              <a:rPr lang="en-US" dirty="0"/>
              <a:t>Only Dermatology and Surgery have clients categorized into different sizes. </a:t>
            </a:r>
          </a:p>
          <a:p>
            <a:pPr marL="171450" indent="-171450">
              <a:buFontTx/>
              <a:buChar char="-"/>
            </a:pPr>
            <a:r>
              <a:rPr lang="en-US" dirty="0"/>
              <a:t>If we look at those clients, we can see that the larger sized clients have a higher utilization rate</a:t>
            </a:r>
          </a:p>
          <a:p>
            <a:pPr marL="171450" indent="-171450">
              <a:buFontTx/>
              <a:buChar char="-"/>
            </a:pPr>
            <a:r>
              <a:rPr lang="en-US" dirty="0"/>
              <a:t>But from the previous slide, we saw that medium sized clients had the highest usage for the new coding and appeal actions</a:t>
            </a:r>
          </a:p>
          <a:p>
            <a:pPr marL="171450" indent="-171450">
              <a:buFontTx/>
              <a:buChar char="-"/>
            </a:pPr>
            <a:r>
              <a:rPr lang="en-US" dirty="0"/>
              <a:t>It would be beneficial to have more data especially for different sized clients in each specialty if possible</a:t>
            </a:r>
          </a:p>
          <a:p>
            <a:pPr marL="171450" indent="-171450">
              <a:buFontTx/>
              <a:buChar char="-"/>
            </a:pPr>
            <a:r>
              <a:rPr lang="en-US" dirty="0"/>
              <a:t>That would help us come to a more definitive answer to this question</a:t>
            </a:r>
          </a:p>
        </p:txBody>
      </p:sp>
      <p:sp>
        <p:nvSpPr>
          <p:cNvPr id="4" name="Slide Number Placeholder 3"/>
          <p:cNvSpPr>
            <a:spLocks noGrp="1"/>
          </p:cNvSpPr>
          <p:nvPr>
            <p:ph type="sldNum" sz="quarter" idx="5"/>
          </p:nvPr>
        </p:nvSpPr>
        <p:spPr/>
        <p:txBody>
          <a:bodyPr/>
          <a:lstStyle/>
          <a:p>
            <a:fld id="{4E3F018F-E94B-4EC8-8E43-B4DA087BC344}" type="slidenum">
              <a:rPr lang="en-US" smtClean="0"/>
              <a:t>9</a:t>
            </a:fld>
            <a:endParaRPr lang="en-US"/>
          </a:p>
        </p:txBody>
      </p:sp>
    </p:spTree>
    <p:extLst>
      <p:ext uri="{BB962C8B-B14F-4D97-AF65-F5344CB8AC3E}">
        <p14:creationId xmlns:p14="http://schemas.microsoft.com/office/powerpoint/2010/main" val="3155324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overview also asked to come up with two metrics that can track the success of the new functionality</a:t>
            </a:r>
          </a:p>
          <a:p>
            <a:pPr marL="171450" indent="-171450">
              <a:buFontTx/>
              <a:buChar char="-"/>
            </a:pPr>
            <a:r>
              <a:rPr lang="en-US" dirty="0"/>
              <a:t>The first metric we could use is adoption rate</a:t>
            </a:r>
          </a:p>
          <a:p>
            <a:pPr marL="171450" indent="-171450">
              <a:buFontTx/>
              <a:buChar char="-"/>
            </a:pPr>
            <a:r>
              <a:rPr lang="en-US" dirty="0"/>
              <a:t>This is taking the total number of unique clients that used the new functionality divided by the total number of unique clients in the dataset</a:t>
            </a:r>
          </a:p>
          <a:p>
            <a:pPr marL="171450" indent="-171450">
              <a:buFontTx/>
              <a:buChar char="-"/>
            </a:pPr>
            <a:r>
              <a:rPr lang="en-US" dirty="0"/>
              <a:t>We can display the adoption rate as a time series with the adoption rate each week</a:t>
            </a:r>
          </a:p>
          <a:p>
            <a:pPr marL="171450" indent="-171450">
              <a:buFontTx/>
              <a:buChar char="-"/>
            </a:pPr>
            <a:r>
              <a:rPr lang="en-US" dirty="0"/>
              <a:t>We saw earlier that the legacy coding function was used by almost every client in the dataset. Ideally we would want to see the adoption rate for the new coding functionality to be almost at 100%</a:t>
            </a:r>
          </a:p>
          <a:p>
            <a:pPr marL="171450" indent="-171450">
              <a:buFontTx/>
              <a:buChar char="-"/>
            </a:pPr>
            <a:r>
              <a:rPr lang="en-US" dirty="0"/>
              <a:t>We also saw that not all clients use the appeal function, so we would want to see this value reach a certain point and plateau around a certain range.</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4E3F018F-E94B-4EC8-8E43-B4DA087BC344}" type="slidenum">
              <a:rPr lang="en-US" smtClean="0"/>
              <a:t>10</a:t>
            </a:fld>
            <a:endParaRPr lang="en-US"/>
          </a:p>
        </p:txBody>
      </p:sp>
    </p:spTree>
    <p:extLst>
      <p:ext uri="{BB962C8B-B14F-4D97-AF65-F5344CB8AC3E}">
        <p14:creationId xmlns:p14="http://schemas.microsoft.com/office/powerpoint/2010/main" val="1565892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Another metric is utilization rate which is similar to what was shown earlier, but showing utilization of total actions instead of unique clients</a:t>
            </a:r>
          </a:p>
          <a:p>
            <a:pPr marL="171450" indent="-171450">
              <a:buFontTx/>
              <a:buChar char="-"/>
            </a:pPr>
            <a:r>
              <a:rPr lang="en-US" dirty="0"/>
              <a:t>It is taking the total count of new actions performed and dividing it by the total number of actions performed which includes the legacy actions </a:t>
            </a:r>
          </a:p>
          <a:p>
            <a:pPr marL="171450" indent="-171450">
              <a:buFontTx/>
              <a:buChar char="-"/>
            </a:pPr>
            <a:r>
              <a:rPr lang="en-US" dirty="0"/>
              <a:t>Higher percentages would mean less people are using the legacy function and we would want to see this value be 100% if we want clients to not use the legacy function at all</a:t>
            </a:r>
          </a:p>
          <a:p>
            <a:pPr marL="171450" indent="-171450">
              <a:buFontTx/>
              <a:buChar char="-"/>
            </a:pPr>
            <a:r>
              <a:rPr lang="en-US" dirty="0"/>
              <a:t>We can display this as a time series as well with the utilization rate for each week</a:t>
            </a:r>
          </a:p>
          <a:p>
            <a:pPr marL="0" indent="0">
              <a:buFontTx/>
              <a:buNone/>
            </a:pPr>
            <a:r>
              <a:rPr lang="en-US" dirty="0"/>
              <a:t> </a:t>
            </a:r>
          </a:p>
        </p:txBody>
      </p:sp>
      <p:sp>
        <p:nvSpPr>
          <p:cNvPr id="4" name="Slide Number Placeholder 3"/>
          <p:cNvSpPr>
            <a:spLocks noGrp="1"/>
          </p:cNvSpPr>
          <p:nvPr>
            <p:ph type="sldNum" sz="quarter" idx="5"/>
          </p:nvPr>
        </p:nvSpPr>
        <p:spPr/>
        <p:txBody>
          <a:bodyPr/>
          <a:lstStyle/>
          <a:p>
            <a:fld id="{4E3F018F-E94B-4EC8-8E43-B4DA087BC344}" type="slidenum">
              <a:rPr lang="en-US" smtClean="0"/>
              <a:t>11</a:t>
            </a:fld>
            <a:endParaRPr lang="en-US"/>
          </a:p>
        </p:txBody>
      </p:sp>
    </p:spTree>
    <p:extLst>
      <p:ext uri="{BB962C8B-B14F-4D97-AF65-F5344CB8AC3E}">
        <p14:creationId xmlns:p14="http://schemas.microsoft.com/office/powerpoint/2010/main" val="1828771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Here are some observations that were made from the slides above</a:t>
            </a:r>
          </a:p>
          <a:p>
            <a:pPr marL="171450" indent="-171450">
              <a:buFontTx/>
              <a:buChar char="-"/>
            </a:pPr>
            <a:r>
              <a:rPr lang="en-US" dirty="0"/>
              <a:t>There is an upward trend in utilization and adoption rate of the new functionality for the previous three month’s data. </a:t>
            </a:r>
          </a:p>
          <a:p>
            <a:pPr marL="171450" indent="-171450">
              <a:buFontTx/>
              <a:buChar char="-"/>
            </a:pPr>
            <a:r>
              <a:rPr lang="en-US" dirty="0"/>
              <a:t>Would be curious to see if that trend continues in the next few months</a:t>
            </a:r>
          </a:p>
          <a:p>
            <a:pPr marL="171450" indent="-171450">
              <a:buFontTx/>
              <a:buChar char="-"/>
            </a:pPr>
            <a:r>
              <a:rPr lang="en-US" dirty="0"/>
              <a:t>The new function could be considered successful depending on what the initial expectations were</a:t>
            </a:r>
          </a:p>
          <a:p>
            <a:pPr marL="171450" indent="-171450">
              <a:buFontTx/>
              <a:buChar char="-"/>
            </a:pPr>
            <a:r>
              <a:rPr lang="en-US" dirty="0"/>
              <a:t>It does seem to be trending in the right direction, but more data and deeper analysis will be needed</a:t>
            </a:r>
          </a:p>
          <a:p>
            <a:pPr marL="171450" indent="-171450">
              <a:buFontTx/>
              <a:buChar char="-"/>
            </a:pPr>
            <a:r>
              <a:rPr lang="en-US" dirty="0"/>
              <a:t>There does seem to be a gap in the adoption rate between the legacy and new functions so we can take a look at this in the next slide</a:t>
            </a:r>
          </a:p>
        </p:txBody>
      </p:sp>
      <p:sp>
        <p:nvSpPr>
          <p:cNvPr id="4" name="Slide Number Placeholder 3"/>
          <p:cNvSpPr>
            <a:spLocks noGrp="1"/>
          </p:cNvSpPr>
          <p:nvPr>
            <p:ph type="sldNum" sz="quarter" idx="5"/>
          </p:nvPr>
        </p:nvSpPr>
        <p:spPr/>
        <p:txBody>
          <a:bodyPr/>
          <a:lstStyle/>
          <a:p>
            <a:fld id="{4E3F018F-E94B-4EC8-8E43-B4DA087BC344}" type="slidenum">
              <a:rPr lang="en-US" smtClean="0"/>
              <a:t>12</a:t>
            </a:fld>
            <a:endParaRPr lang="en-US"/>
          </a:p>
        </p:txBody>
      </p:sp>
    </p:spTree>
    <p:extLst>
      <p:ext uri="{BB962C8B-B14F-4D97-AF65-F5344CB8AC3E}">
        <p14:creationId xmlns:p14="http://schemas.microsoft.com/office/powerpoint/2010/main" val="20865387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adoption rate of the new appeal function is between 10-15% lower than the legacy function.</a:t>
            </a:r>
          </a:p>
          <a:p>
            <a:pPr marL="171450" indent="-171450">
              <a:buFontTx/>
              <a:buChar char="-"/>
            </a:pPr>
            <a:r>
              <a:rPr lang="en-US" dirty="0"/>
              <a:t>This is a lot smaller gap compared to the coding actions</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4E3F018F-E94B-4EC8-8E43-B4DA087BC344}" type="slidenum">
              <a:rPr lang="en-US" smtClean="0"/>
              <a:t>13</a:t>
            </a:fld>
            <a:endParaRPr lang="en-US"/>
          </a:p>
        </p:txBody>
      </p:sp>
    </p:spTree>
    <p:extLst>
      <p:ext uri="{BB962C8B-B14F-4D97-AF65-F5344CB8AC3E}">
        <p14:creationId xmlns:p14="http://schemas.microsoft.com/office/powerpoint/2010/main" val="1177588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adoption rate for the new coding action is a lot lower than the legacy version</a:t>
            </a:r>
          </a:p>
          <a:p>
            <a:pPr marL="171450" indent="-171450">
              <a:buFontTx/>
              <a:buChar char="-"/>
            </a:pPr>
            <a:r>
              <a:rPr lang="en-US" dirty="0"/>
              <a:t>Are there certain characteristics of the new coding action that makes it difficult to make the switch?</a:t>
            </a:r>
          </a:p>
          <a:p>
            <a:pPr marL="171450" indent="-171450">
              <a:buFontTx/>
              <a:buChar char="-"/>
            </a:pPr>
            <a:r>
              <a:rPr lang="en-US" dirty="0"/>
              <a:t>Is the new appeals action more similar to the legacy version compared to the new and old coding function?</a:t>
            </a:r>
          </a:p>
          <a:p>
            <a:pPr marL="171450" indent="-171450">
              <a:buFontTx/>
              <a:buChar char="-"/>
            </a:pPr>
            <a:r>
              <a:rPr lang="en-US" dirty="0"/>
              <a:t>If there is a huge difference in the new and legacy coding actions, some people might not want to try it out at all</a:t>
            </a:r>
          </a:p>
          <a:p>
            <a:pPr marL="171450" indent="-171450">
              <a:buFontTx/>
              <a:buChar char="-"/>
            </a:pPr>
            <a:r>
              <a:rPr lang="en-US" dirty="0"/>
              <a:t>We know that almost all clients used the legacy coding action </a:t>
            </a:r>
            <a:r>
              <a:rPr lang="en-US" dirty="0" err="1"/>
              <a:t>atleast</a:t>
            </a:r>
            <a:r>
              <a:rPr lang="en-US" dirty="0"/>
              <a:t> once in the past 3 months, so that means many of them did not test out the new coding action when they had a chance to use it</a:t>
            </a:r>
          </a:p>
          <a:p>
            <a:pPr marL="0" indent="0">
              <a:buFontTx/>
              <a:buNone/>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4E3F018F-E94B-4EC8-8E43-B4DA087BC344}" type="slidenum">
              <a:rPr lang="en-US" smtClean="0"/>
              <a:t>14</a:t>
            </a:fld>
            <a:endParaRPr lang="en-US"/>
          </a:p>
        </p:txBody>
      </p:sp>
    </p:spTree>
    <p:extLst>
      <p:ext uri="{BB962C8B-B14F-4D97-AF65-F5344CB8AC3E}">
        <p14:creationId xmlns:p14="http://schemas.microsoft.com/office/powerpoint/2010/main" val="2157326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 wouldn’t recommend expanding the new functionality to all clients until there is some more investigation on the large gap between the new and legacy coding function</a:t>
            </a:r>
          </a:p>
          <a:p>
            <a:pPr marL="171450" indent="-171450">
              <a:buFontTx/>
              <a:buChar char="-"/>
            </a:pPr>
            <a:r>
              <a:rPr lang="en-US" dirty="0"/>
              <a:t>Could be something with the design or not having the proper training materials for the clients to be comfortable using it</a:t>
            </a:r>
          </a:p>
          <a:p>
            <a:pPr marL="171450" indent="-171450">
              <a:buFontTx/>
              <a:buChar char="-"/>
            </a:pPr>
            <a:r>
              <a:rPr lang="en-US" dirty="0"/>
              <a:t>I would recommend the product education team to focus on creating the training materials for the new coding functionality and see if that helps increase the adoption rate</a:t>
            </a:r>
          </a:p>
          <a:p>
            <a:pPr marL="171450" indent="-171450">
              <a:buFontTx/>
              <a:buChar char="-"/>
            </a:pPr>
            <a:r>
              <a:rPr lang="en-US" dirty="0"/>
              <a:t>I would also like to collect some additional data from clients if it is possible.</a:t>
            </a:r>
          </a:p>
          <a:p>
            <a:pPr marL="171450" indent="-171450">
              <a:buFontTx/>
              <a:buChar char="-"/>
            </a:pPr>
            <a:r>
              <a:rPr lang="en-US" dirty="0"/>
              <a:t>I would like to see some kind of survey go out to the clients who had the chance to test the new functions and see what they think about it and rate different aspects of the function</a:t>
            </a:r>
          </a:p>
          <a:p>
            <a:pPr marL="171450" indent="-171450">
              <a:buFontTx/>
              <a:buChar char="-"/>
            </a:pPr>
            <a:r>
              <a:rPr lang="en-US" dirty="0"/>
              <a:t>Another possibility would be to collect data on the time it takes to complete each action and then see if there is a difference in time spent.</a:t>
            </a:r>
          </a:p>
          <a:p>
            <a:pPr marL="171450" indent="-171450">
              <a:buFontTx/>
              <a:buChar char="-"/>
            </a:pPr>
            <a:r>
              <a:rPr lang="en-US" dirty="0"/>
              <a:t>Could use this as a way to get more clients to adopt the new functionality</a:t>
            </a:r>
          </a:p>
          <a:p>
            <a:pPr marL="171450" indent="-171450">
              <a:buFontTx/>
              <a:buChar char="-"/>
            </a:pPr>
            <a:r>
              <a:rPr lang="en-US" dirty="0"/>
              <a:t>I would also want to collect data on more clients of different sizes within each of the specializations</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4E3F018F-E94B-4EC8-8E43-B4DA087BC344}" type="slidenum">
              <a:rPr lang="en-US" smtClean="0"/>
              <a:t>15</a:t>
            </a:fld>
            <a:endParaRPr lang="en-US"/>
          </a:p>
        </p:txBody>
      </p:sp>
    </p:spTree>
    <p:extLst>
      <p:ext uri="{BB962C8B-B14F-4D97-AF65-F5344CB8AC3E}">
        <p14:creationId xmlns:p14="http://schemas.microsoft.com/office/powerpoint/2010/main" val="3017847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CE3E4B-D691-4378-8BD7-7D8067455E5D}"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2893347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CE3E4B-D691-4378-8BD7-7D8067455E5D}"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1479583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CE3E4B-D691-4378-8BD7-7D8067455E5D}"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2017349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CE3E4B-D691-4378-8BD7-7D8067455E5D}"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3388283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CE3E4B-D691-4378-8BD7-7D8067455E5D}" type="datetimeFigureOut">
              <a:rPr lang="en-US" smtClean="0"/>
              <a:t>12/22/2020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4203343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CE3E4B-D691-4378-8BD7-7D8067455E5D}" type="datetimeFigureOut">
              <a:rPr lang="en-US" smtClean="0"/>
              <a:t>12/22/2020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340413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CE3E4B-D691-4378-8BD7-7D8067455E5D}" type="datetimeFigureOut">
              <a:rPr lang="en-US" smtClean="0"/>
              <a:t>12/22/2020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1198342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CE3E4B-D691-4378-8BD7-7D8067455E5D}"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3200900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CE3E4B-D691-4378-8BD7-7D8067455E5D}" type="datetimeFigureOut">
              <a:rPr lang="en-US" smtClean="0"/>
              <a:t>12/22/2020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1340826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CE3E4B-D691-4378-8BD7-7D8067455E5D}"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2215110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CE3E4B-D691-4378-8BD7-7D8067455E5D}" type="datetimeFigureOut">
              <a:rPr lang="en-US" smtClean="0"/>
              <a:t>12/22/2020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8F98E1-90BE-44EB-B8FA-FDB4870A8032}" type="slidenum">
              <a:rPr lang="en-US" smtClean="0"/>
              <a:t>‹#›</a:t>
            </a:fld>
            <a:endParaRPr lang="en-US"/>
          </a:p>
        </p:txBody>
      </p:sp>
    </p:spTree>
    <p:extLst>
      <p:ext uri="{BB962C8B-B14F-4D97-AF65-F5344CB8AC3E}">
        <p14:creationId xmlns:p14="http://schemas.microsoft.com/office/powerpoint/2010/main" val="30312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CE3E4B-D691-4378-8BD7-7D8067455E5D}" type="datetimeFigureOut">
              <a:rPr lang="en-US" smtClean="0"/>
              <a:t>12/22/2020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8F98E1-90BE-44EB-B8FA-FDB4870A8032}" type="slidenum">
              <a:rPr lang="en-US" smtClean="0"/>
              <a:t>‹#›</a:t>
            </a:fld>
            <a:endParaRPr lang="en-US"/>
          </a:p>
        </p:txBody>
      </p:sp>
    </p:spTree>
    <p:extLst>
      <p:ext uri="{BB962C8B-B14F-4D97-AF65-F5344CB8AC3E}">
        <p14:creationId xmlns:p14="http://schemas.microsoft.com/office/powerpoint/2010/main" val="14420205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0391-637B-43EC-A2C0-BEE458057EAD}"/>
              </a:ext>
            </a:extLst>
          </p:cNvPr>
          <p:cNvSpPr>
            <a:spLocks noGrp="1"/>
          </p:cNvSpPr>
          <p:nvPr>
            <p:ph type="ctrTitle"/>
          </p:nvPr>
        </p:nvSpPr>
        <p:spPr/>
        <p:txBody>
          <a:bodyPr/>
          <a:lstStyle/>
          <a:p>
            <a:r>
              <a:rPr lang="en-US" dirty="0"/>
              <a:t>Product Analytics Business Case</a:t>
            </a:r>
          </a:p>
        </p:txBody>
      </p:sp>
      <p:sp>
        <p:nvSpPr>
          <p:cNvPr id="3" name="Subtitle 2">
            <a:extLst>
              <a:ext uri="{FF2B5EF4-FFF2-40B4-BE49-F238E27FC236}">
                <a16:creationId xmlns:a16="http://schemas.microsoft.com/office/drawing/2014/main" id="{365E4B09-F43A-49D4-A672-4B6BC5034D54}"/>
              </a:ext>
            </a:extLst>
          </p:cNvPr>
          <p:cNvSpPr>
            <a:spLocks noGrp="1"/>
          </p:cNvSpPr>
          <p:nvPr>
            <p:ph type="subTitle" idx="1"/>
          </p:nvPr>
        </p:nvSpPr>
        <p:spPr/>
        <p:txBody>
          <a:bodyPr anchor="ctr"/>
          <a:lstStyle/>
          <a:p>
            <a:r>
              <a:rPr lang="en-US" dirty="0"/>
              <a:t>Andrew Siu</a:t>
            </a:r>
          </a:p>
        </p:txBody>
      </p:sp>
    </p:spTree>
    <p:extLst>
      <p:ext uri="{BB962C8B-B14F-4D97-AF65-F5344CB8AC3E}">
        <p14:creationId xmlns:p14="http://schemas.microsoft.com/office/powerpoint/2010/main" val="2754184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BA5F8-9263-4A59-8997-CC5B8CC3DE5F}"/>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A07CC51B-F568-4619-BC0D-ACD60D0E67C4}"/>
              </a:ext>
            </a:extLst>
          </p:cNvPr>
          <p:cNvSpPr>
            <a:spLocks noGrp="1"/>
          </p:cNvSpPr>
          <p:nvPr>
            <p:ph idx="1"/>
          </p:nvPr>
        </p:nvSpPr>
        <p:spPr/>
        <p:txBody>
          <a:bodyPr>
            <a:normAutofit/>
          </a:bodyPr>
          <a:lstStyle/>
          <a:p>
            <a:r>
              <a:rPr lang="en-US" sz="2000" dirty="0"/>
              <a:t>The product team released a new product feature to a set of test clients three months ago</a:t>
            </a:r>
          </a:p>
          <a:p>
            <a:pPr marL="0" indent="0">
              <a:buNone/>
            </a:pPr>
            <a:endParaRPr lang="en-US" sz="2000" dirty="0"/>
          </a:p>
          <a:p>
            <a:r>
              <a:rPr lang="en-US" sz="2000" dirty="0"/>
              <a:t>The new feature is designed to improve the workflow of the Coding and Appeal actions</a:t>
            </a:r>
          </a:p>
          <a:p>
            <a:pPr marL="0" indent="0">
              <a:buNone/>
            </a:pPr>
            <a:endParaRPr lang="en-US" sz="2000" dirty="0"/>
          </a:p>
          <a:p>
            <a:r>
              <a:rPr lang="en-US" sz="2000" dirty="0"/>
              <a:t>Clients are now able to use the new product feature </a:t>
            </a:r>
            <a:r>
              <a:rPr lang="en-US" sz="2000" u="sng" dirty="0"/>
              <a:t>as well as</a:t>
            </a:r>
            <a:r>
              <a:rPr lang="en-US" sz="2000" dirty="0"/>
              <a:t> the old legacy functionality</a:t>
            </a:r>
          </a:p>
        </p:txBody>
      </p:sp>
    </p:spTree>
    <p:extLst>
      <p:ext uri="{BB962C8B-B14F-4D97-AF65-F5344CB8AC3E}">
        <p14:creationId xmlns:p14="http://schemas.microsoft.com/office/powerpoint/2010/main" val="3796300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1CC9B-540D-4362-A472-C0F2FD8B6698}"/>
              </a:ext>
            </a:extLst>
          </p:cNvPr>
          <p:cNvSpPr>
            <a:spLocks noGrp="1"/>
          </p:cNvSpPr>
          <p:nvPr>
            <p:ph type="title"/>
          </p:nvPr>
        </p:nvSpPr>
        <p:spPr/>
        <p:txBody>
          <a:bodyPr/>
          <a:lstStyle/>
          <a:p>
            <a:r>
              <a:rPr lang="en-US" dirty="0"/>
              <a:t>Data</a:t>
            </a:r>
          </a:p>
        </p:txBody>
      </p:sp>
      <p:sp>
        <p:nvSpPr>
          <p:cNvPr id="3" name="Content Placeholder 2">
            <a:extLst>
              <a:ext uri="{FF2B5EF4-FFF2-40B4-BE49-F238E27FC236}">
                <a16:creationId xmlns:a16="http://schemas.microsoft.com/office/drawing/2014/main" id="{18443D6A-9C46-4F9C-BBFD-0D2E768F79F7}"/>
              </a:ext>
            </a:extLst>
          </p:cNvPr>
          <p:cNvSpPr>
            <a:spLocks noGrp="1"/>
          </p:cNvSpPr>
          <p:nvPr>
            <p:ph idx="1"/>
          </p:nvPr>
        </p:nvSpPr>
        <p:spPr/>
        <p:txBody>
          <a:bodyPr>
            <a:normAutofit/>
          </a:bodyPr>
          <a:lstStyle/>
          <a:p>
            <a:r>
              <a:rPr lang="en-US" sz="2000" dirty="0"/>
              <a:t>Set of clients that are categorized as:</a:t>
            </a:r>
          </a:p>
          <a:p>
            <a:pPr lvl="1"/>
            <a:r>
              <a:rPr lang="en-US" sz="1800" dirty="0"/>
              <a:t>Small, medium, or large based on the size of the company</a:t>
            </a:r>
          </a:p>
          <a:p>
            <a:pPr lvl="1"/>
            <a:r>
              <a:rPr lang="en-US" sz="1800" dirty="0"/>
              <a:t>Live or terminated</a:t>
            </a:r>
          </a:p>
          <a:p>
            <a:pPr lvl="1"/>
            <a:r>
              <a:rPr lang="en-US" sz="1800" dirty="0"/>
              <a:t>Specialty of the client: dermatology, family medicine, OB-GYN, oncology, pediatrics, surgery</a:t>
            </a:r>
          </a:p>
          <a:p>
            <a:endParaRPr lang="en-US" sz="2000" dirty="0"/>
          </a:p>
          <a:p>
            <a:r>
              <a:rPr lang="en-US" sz="2000" dirty="0"/>
              <a:t>Weekly usage counts for Coding and Appeal actions for both new and legacy workflows over the past three months</a:t>
            </a:r>
          </a:p>
          <a:p>
            <a:endParaRPr lang="en-US" sz="2000" dirty="0"/>
          </a:p>
          <a:p>
            <a:endParaRPr lang="en-US" sz="2000" dirty="0"/>
          </a:p>
        </p:txBody>
      </p:sp>
    </p:spTree>
    <p:extLst>
      <p:ext uri="{BB962C8B-B14F-4D97-AF65-F5344CB8AC3E}">
        <p14:creationId xmlns:p14="http://schemas.microsoft.com/office/powerpoint/2010/main" val="2013303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B6EA3-8B98-4998-9551-D84A98D916B6}"/>
              </a:ext>
            </a:extLst>
          </p:cNvPr>
          <p:cNvSpPr>
            <a:spLocks noGrp="1"/>
          </p:cNvSpPr>
          <p:nvPr>
            <p:ph type="title"/>
          </p:nvPr>
        </p:nvSpPr>
        <p:spPr/>
        <p:txBody>
          <a:bodyPr/>
          <a:lstStyle/>
          <a:p>
            <a:r>
              <a:rPr lang="en-US" dirty="0"/>
              <a:t>Goal</a:t>
            </a:r>
          </a:p>
        </p:txBody>
      </p:sp>
      <p:sp>
        <p:nvSpPr>
          <p:cNvPr id="3" name="Content Placeholder 2">
            <a:extLst>
              <a:ext uri="{FF2B5EF4-FFF2-40B4-BE49-F238E27FC236}">
                <a16:creationId xmlns:a16="http://schemas.microsoft.com/office/drawing/2014/main" id="{17EF3AC5-73C4-4C72-B290-19A03DCA437B}"/>
              </a:ext>
            </a:extLst>
          </p:cNvPr>
          <p:cNvSpPr>
            <a:spLocks noGrp="1"/>
          </p:cNvSpPr>
          <p:nvPr>
            <p:ph idx="1"/>
          </p:nvPr>
        </p:nvSpPr>
        <p:spPr/>
        <p:txBody>
          <a:bodyPr>
            <a:normAutofit/>
          </a:bodyPr>
          <a:lstStyle/>
          <a:p>
            <a:r>
              <a:rPr lang="en-US" sz="2000" dirty="0"/>
              <a:t>Measure how clients are using new functionality</a:t>
            </a:r>
          </a:p>
          <a:p>
            <a:pPr marL="0" indent="0">
              <a:buNone/>
            </a:pPr>
            <a:endParaRPr lang="en-US" sz="2000" dirty="0"/>
          </a:p>
          <a:p>
            <a:r>
              <a:rPr lang="en-US" sz="2000" dirty="0"/>
              <a:t>Propose metrics that can be used to track the success of the new functionality</a:t>
            </a:r>
          </a:p>
          <a:p>
            <a:endParaRPr lang="en-US" sz="2000" dirty="0"/>
          </a:p>
          <a:p>
            <a:r>
              <a:rPr lang="en-US" sz="2000" dirty="0"/>
              <a:t>Observe any trends and provide recommendations</a:t>
            </a:r>
          </a:p>
        </p:txBody>
      </p:sp>
    </p:spTree>
    <p:extLst>
      <p:ext uri="{BB962C8B-B14F-4D97-AF65-F5344CB8AC3E}">
        <p14:creationId xmlns:p14="http://schemas.microsoft.com/office/powerpoint/2010/main" val="320102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8BE21-0E05-434C-A66A-58DBB40435C7}"/>
              </a:ext>
            </a:extLst>
          </p:cNvPr>
          <p:cNvSpPr>
            <a:spLocks noGrp="1"/>
          </p:cNvSpPr>
          <p:nvPr>
            <p:ph type="title"/>
          </p:nvPr>
        </p:nvSpPr>
        <p:spPr/>
        <p:txBody>
          <a:bodyPr/>
          <a:lstStyle/>
          <a:p>
            <a:r>
              <a:rPr lang="en-US" dirty="0"/>
              <a:t>Assumptions</a:t>
            </a:r>
          </a:p>
        </p:txBody>
      </p:sp>
      <p:sp>
        <p:nvSpPr>
          <p:cNvPr id="3" name="Content Placeholder 2">
            <a:extLst>
              <a:ext uri="{FF2B5EF4-FFF2-40B4-BE49-F238E27FC236}">
                <a16:creationId xmlns:a16="http://schemas.microsoft.com/office/drawing/2014/main" id="{B92C3315-EAE7-4C4D-99BC-A2519ADF1B2E}"/>
              </a:ext>
            </a:extLst>
          </p:cNvPr>
          <p:cNvSpPr>
            <a:spLocks noGrp="1"/>
          </p:cNvSpPr>
          <p:nvPr>
            <p:ph idx="1"/>
          </p:nvPr>
        </p:nvSpPr>
        <p:spPr>
          <a:xfrm>
            <a:off x="838200" y="1850792"/>
            <a:ext cx="10515600" cy="4351338"/>
          </a:xfrm>
        </p:spPr>
        <p:txBody>
          <a:bodyPr>
            <a:normAutofit lnSpcReduction="10000"/>
          </a:bodyPr>
          <a:lstStyle/>
          <a:p>
            <a:r>
              <a:rPr lang="en-US" sz="2000" dirty="0"/>
              <a:t>Exclude clients that are labeled as terminated</a:t>
            </a:r>
          </a:p>
          <a:p>
            <a:pPr marL="0" indent="0">
              <a:buNone/>
            </a:pPr>
            <a:endParaRPr lang="en-US" sz="2000" dirty="0"/>
          </a:p>
          <a:p>
            <a:r>
              <a:rPr lang="en-US" sz="2000" dirty="0"/>
              <a:t>All clients worked the same hours on Christmas and New Years day</a:t>
            </a:r>
          </a:p>
          <a:p>
            <a:pPr marL="0" indent="0">
              <a:buNone/>
            </a:pPr>
            <a:endParaRPr lang="en-US" sz="2000" dirty="0"/>
          </a:p>
          <a:p>
            <a:pPr lvl="1"/>
            <a:r>
              <a:rPr lang="en-US" sz="1800" dirty="0"/>
              <a:t>No increase or decrease in activity</a:t>
            </a:r>
          </a:p>
          <a:p>
            <a:r>
              <a:rPr lang="en-US" sz="2000" dirty="0"/>
              <a:t>Data is grouped by each week from 11/13/2017 to 1/8/2018</a:t>
            </a:r>
          </a:p>
          <a:p>
            <a:pPr lvl="1"/>
            <a:r>
              <a:rPr lang="en-US" sz="1600" dirty="0"/>
              <a:t>Nine total weeks, five days a week</a:t>
            </a:r>
          </a:p>
          <a:p>
            <a:pPr lvl="1"/>
            <a:r>
              <a:rPr lang="en-US" sz="1600" dirty="0"/>
              <a:t>Assume the data represents the entire week, no data for partial weeks</a:t>
            </a:r>
          </a:p>
          <a:p>
            <a:pPr marL="457200" lvl="1" indent="0">
              <a:buNone/>
            </a:pPr>
            <a:endParaRPr lang="en-US" sz="1600" dirty="0"/>
          </a:p>
          <a:p>
            <a:r>
              <a:rPr lang="en-US" sz="2000" dirty="0"/>
              <a:t>Assume there is no difference in usage for clients that do not have data for all weeks between 11/13/2017 to 1/8/2018</a:t>
            </a:r>
          </a:p>
          <a:p>
            <a:pPr lvl="1"/>
            <a:r>
              <a:rPr lang="en-US" sz="1600" dirty="0"/>
              <a:t>Some clients only have data for one or two weeks instead of all nine for example</a:t>
            </a:r>
          </a:p>
          <a:p>
            <a:pPr lvl="1"/>
            <a:r>
              <a:rPr lang="en-US" sz="1600" dirty="0"/>
              <a:t>They could possibly be new clients, but will look the data at face value</a:t>
            </a:r>
          </a:p>
          <a:p>
            <a:endParaRPr lang="en-US" sz="2000" dirty="0"/>
          </a:p>
        </p:txBody>
      </p:sp>
    </p:spTree>
    <p:extLst>
      <p:ext uri="{BB962C8B-B14F-4D97-AF65-F5344CB8AC3E}">
        <p14:creationId xmlns:p14="http://schemas.microsoft.com/office/powerpoint/2010/main" val="254665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E0D57-476A-4EEC-962F-8CEBFEFF8E18}"/>
              </a:ext>
            </a:extLst>
          </p:cNvPr>
          <p:cNvSpPr>
            <a:spLocks noGrp="1"/>
          </p:cNvSpPr>
          <p:nvPr>
            <p:ph type="title"/>
          </p:nvPr>
        </p:nvSpPr>
        <p:spPr/>
        <p:txBody>
          <a:bodyPr/>
          <a:lstStyle/>
          <a:p>
            <a:r>
              <a:rPr lang="en-US" dirty="0"/>
              <a:t>Utilization</a:t>
            </a:r>
          </a:p>
        </p:txBody>
      </p:sp>
      <p:sp>
        <p:nvSpPr>
          <p:cNvPr id="3" name="Content Placeholder 2">
            <a:extLst>
              <a:ext uri="{FF2B5EF4-FFF2-40B4-BE49-F238E27FC236}">
                <a16:creationId xmlns:a16="http://schemas.microsoft.com/office/drawing/2014/main" id="{DF6E7CDD-B57A-4A22-97C5-5BFCBF2EA755}"/>
              </a:ext>
            </a:extLst>
          </p:cNvPr>
          <p:cNvSpPr>
            <a:spLocks noGrp="1"/>
          </p:cNvSpPr>
          <p:nvPr>
            <p:ph idx="1"/>
          </p:nvPr>
        </p:nvSpPr>
        <p:spPr/>
        <p:txBody>
          <a:bodyPr>
            <a:normAutofit/>
          </a:bodyPr>
          <a:lstStyle/>
          <a:p>
            <a:r>
              <a:rPr lang="en-US" sz="2000" dirty="0"/>
              <a:t>~53% of clients utilized the new coding feature at least once</a:t>
            </a:r>
          </a:p>
          <a:p>
            <a:r>
              <a:rPr lang="en-US" sz="2000" dirty="0"/>
              <a:t>~45% of clients utilized the new appeal feature at least once</a:t>
            </a:r>
          </a:p>
        </p:txBody>
      </p:sp>
      <p:graphicFrame>
        <p:nvGraphicFramePr>
          <p:cNvPr id="4" name="Chart 3">
            <a:extLst>
              <a:ext uri="{FF2B5EF4-FFF2-40B4-BE49-F238E27FC236}">
                <a16:creationId xmlns:a16="http://schemas.microsoft.com/office/drawing/2014/main" id="{2126E850-82DC-4D25-9F18-68048943D25C}"/>
              </a:ext>
            </a:extLst>
          </p:cNvPr>
          <p:cNvGraphicFramePr>
            <a:graphicFrameLocks/>
          </p:cNvGraphicFramePr>
          <p:nvPr>
            <p:extLst>
              <p:ext uri="{D42A27DB-BD31-4B8C-83A1-F6EECF244321}">
                <p14:modId xmlns:p14="http://schemas.microsoft.com/office/powerpoint/2010/main" val="1510915169"/>
              </p:ext>
            </p:extLst>
          </p:nvPr>
        </p:nvGraphicFramePr>
        <p:xfrm>
          <a:off x="1609726" y="3355596"/>
          <a:ext cx="4278385" cy="35024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35EFD291-AECE-461D-8000-945F961F49F6}"/>
              </a:ext>
            </a:extLst>
          </p:cNvPr>
          <p:cNvGraphicFramePr>
            <a:graphicFrameLocks/>
          </p:cNvGraphicFramePr>
          <p:nvPr>
            <p:extLst>
              <p:ext uri="{D42A27DB-BD31-4B8C-83A1-F6EECF244321}">
                <p14:modId xmlns:p14="http://schemas.microsoft.com/office/powerpoint/2010/main" val="4226549324"/>
              </p:ext>
            </p:extLst>
          </p:nvPr>
        </p:nvGraphicFramePr>
        <p:xfrm>
          <a:off x="6303888" y="3429000"/>
          <a:ext cx="4278386" cy="350240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06108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015E5-161C-4E36-BF11-37868FAF9AFB}"/>
              </a:ext>
            </a:extLst>
          </p:cNvPr>
          <p:cNvSpPr>
            <a:spLocks noGrp="1"/>
          </p:cNvSpPr>
          <p:nvPr>
            <p:ph type="title"/>
          </p:nvPr>
        </p:nvSpPr>
        <p:spPr/>
        <p:txBody>
          <a:bodyPr/>
          <a:lstStyle/>
          <a:p>
            <a:r>
              <a:rPr lang="en-US" dirty="0"/>
              <a:t>Utilization by Client Size</a:t>
            </a:r>
          </a:p>
        </p:txBody>
      </p:sp>
      <p:sp>
        <p:nvSpPr>
          <p:cNvPr id="3" name="Content Placeholder 2">
            <a:extLst>
              <a:ext uri="{FF2B5EF4-FFF2-40B4-BE49-F238E27FC236}">
                <a16:creationId xmlns:a16="http://schemas.microsoft.com/office/drawing/2014/main" id="{9EB14E04-6E8D-4B3B-8736-8379FFB545C8}"/>
              </a:ext>
            </a:extLst>
          </p:cNvPr>
          <p:cNvSpPr>
            <a:spLocks noGrp="1"/>
          </p:cNvSpPr>
          <p:nvPr>
            <p:ph idx="1"/>
          </p:nvPr>
        </p:nvSpPr>
        <p:spPr/>
        <p:txBody>
          <a:bodyPr>
            <a:normAutofit/>
          </a:bodyPr>
          <a:lstStyle/>
          <a:p>
            <a:r>
              <a:rPr lang="en-US" sz="2000" dirty="0"/>
              <a:t>Medium sized clients have the highest utilization % for the new coding and appeals functionality</a:t>
            </a:r>
          </a:p>
          <a:p>
            <a:r>
              <a:rPr lang="en-US" sz="2000" dirty="0"/>
              <a:t>Small sized clients have lowest utilization % for the new coding and appeals functionality</a:t>
            </a:r>
          </a:p>
          <a:p>
            <a:endParaRPr lang="en-US" sz="2000" dirty="0"/>
          </a:p>
          <a:p>
            <a:endParaRPr lang="en-US" sz="2000" dirty="0"/>
          </a:p>
        </p:txBody>
      </p:sp>
      <p:graphicFrame>
        <p:nvGraphicFramePr>
          <p:cNvPr id="5" name="Chart 4">
            <a:extLst>
              <a:ext uri="{FF2B5EF4-FFF2-40B4-BE49-F238E27FC236}">
                <a16:creationId xmlns:a16="http://schemas.microsoft.com/office/drawing/2014/main" id="{8AE41B83-D660-4807-BE5C-E9C7BFC9B860}"/>
              </a:ext>
            </a:extLst>
          </p:cNvPr>
          <p:cNvGraphicFramePr>
            <a:graphicFrameLocks/>
          </p:cNvGraphicFramePr>
          <p:nvPr>
            <p:extLst>
              <p:ext uri="{D42A27DB-BD31-4B8C-83A1-F6EECF244321}">
                <p14:modId xmlns:p14="http://schemas.microsoft.com/office/powerpoint/2010/main" val="3675206242"/>
              </p:ext>
            </p:extLst>
          </p:nvPr>
        </p:nvGraphicFramePr>
        <p:xfrm>
          <a:off x="2903933" y="3429000"/>
          <a:ext cx="6384133" cy="32002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14365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D92B6-C920-4B12-B7EE-7486024CF9B7}"/>
              </a:ext>
            </a:extLst>
          </p:cNvPr>
          <p:cNvSpPr>
            <a:spLocks noGrp="1"/>
          </p:cNvSpPr>
          <p:nvPr>
            <p:ph type="title"/>
          </p:nvPr>
        </p:nvSpPr>
        <p:spPr/>
        <p:txBody>
          <a:bodyPr/>
          <a:lstStyle/>
          <a:p>
            <a:r>
              <a:rPr lang="en-US" dirty="0"/>
              <a:t>Utilization by Client Specialty</a:t>
            </a:r>
          </a:p>
        </p:txBody>
      </p:sp>
      <p:sp>
        <p:nvSpPr>
          <p:cNvPr id="3" name="Content Placeholder 2">
            <a:extLst>
              <a:ext uri="{FF2B5EF4-FFF2-40B4-BE49-F238E27FC236}">
                <a16:creationId xmlns:a16="http://schemas.microsoft.com/office/drawing/2014/main" id="{E536DEDB-AFD6-4ED0-B4E2-043067D23901}"/>
              </a:ext>
            </a:extLst>
          </p:cNvPr>
          <p:cNvSpPr>
            <a:spLocks noGrp="1"/>
          </p:cNvSpPr>
          <p:nvPr>
            <p:ph idx="1"/>
          </p:nvPr>
        </p:nvSpPr>
        <p:spPr/>
        <p:txBody>
          <a:bodyPr>
            <a:normAutofit/>
          </a:bodyPr>
          <a:lstStyle/>
          <a:p>
            <a:r>
              <a:rPr lang="en-US" sz="2000" dirty="0"/>
              <a:t>Clients under the Pediatrics category have the highest utilization % for the new coding and appeals functionality</a:t>
            </a:r>
          </a:p>
          <a:p>
            <a:r>
              <a:rPr lang="en-US" sz="2000" dirty="0"/>
              <a:t>Clients under the OB-GYN category have the lowest utilization % for the new coding functionality</a:t>
            </a:r>
          </a:p>
          <a:p>
            <a:r>
              <a:rPr lang="en-US" sz="2000" dirty="0"/>
              <a:t>Clients under the Family Medicine category have the lowest utilization % for the new appeals functionality</a:t>
            </a:r>
          </a:p>
          <a:p>
            <a:endParaRPr lang="en-US" sz="2000" dirty="0"/>
          </a:p>
        </p:txBody>
      </p:sp>
      <p:graphicFrame>
        <p:nvGraphicFramePr>
          <p:cNvPr id="6" name="Chart 5">
            <a:extLst>
              <a:ext uri="{FF2B5EF4-FFF2-40B4-BE49-F238E27FC236}">
                <a16:creationId xmlns:a16="http://schemas.microsoft.com/office/drawing/2014/main" id="{B25F2D1F-297C-41FE-8BBA-44055569B601}"/>
              </a:ext>
            </a:extLst>
          </p:cNvPr>
          <p:cNvGraphicFramePr>
            <a:graphicFrameLocks/>
          </p:cNvGraphicFramePr>
          <p:nvPr>
            <p:extLst>
              <p:ext uri="{D42A27DB-BD31-4B8C-83A1-F6EECF244321}">
                <p14:modId xmlns:p14="http://schemas.microsoft.com/office/powerpoint/2010/main" val="2737499795"/>
              </p:ext>
            </p:extLst>
          </p:nvPr>
        </p:nvGraphicFramePr>
        <p:xfrm>
          <a:off x="2451496" y="3752850"/>
          <a:ext cx="7289007" cy="300116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55184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13B49-31B8-4E7B-9947-43C8746E5A66}"/>
              </a:ext>
            </a:extLst>
          </p:cNvPr>
          <p:cNvSpPr>
            <a:spLocks noGrp="1"/>
          </p:cNvSpPr>
          <p:nvPr>
            <p:ph type="title"/>
          </p:nvPr>
        </p:nvSpPr>
        <p:spPr/>
        <p:txBody>
          <a:bodyPr/>
          <a:lstStyle/>
          <a:p>
            <a:r>
              <a:rPr lang="en-US" dirty="0"/>
              <a:t>Do larger clients have higher usage rates?</a:t>
            </a:r>
          </a:p>
        </p:txBody>
      </p:sp>
      <p:sp>
        <p:nvSpPr>
          <p:cNvPr id="3" name="Content Placeholder 2">
            <a:extLst>
              <a:ext uri="{FF2B5EF4-FFF2-40B4-BE49-F238E27FC236}">
                <a16:creationId xmlns:a16="http://schemas.microsoft.com/office/drawing/2014/main" id="{072EC987-962A-4288-8DBB-0D252105603C}"/>
              </a:ext>
            </a:extLst>
          </p:cNvPr>
          <p:cNvSpPr>
            <a:spLocks noGrp="1"/>
          </p:cNvSpPr>
          <p:nvPr>
            <p:ph idx="1"/>
          </p:nvPr>
        </p:nvSpPr>
        <p:spPr/>
        <p:txBody>
          <a:bodyPr/>
          <a:lstStyle/>
          <a:p>
            <a:r>
              <a:rPr lang="en-US" sz="2000" dirty="0"/>
              <a:t>Depends on how you look at the data</a:t>
            </a:r>
          </a:p>
          <a:p>
            <a:pPr lvl="1"/>
            <a:r>
              <a:rPr lang="en-US" sz="1800" dirty="0"/>
              <a:t>Having more data on different sized clients for each specialty would be beneficial</a:t>
            </a:r>
          </a:p>
          <a:p>
            <a:pPr lvl="1"/>
            <a:r>
              <a:rPr lang="en-US" sz="1800" dirty="0"/>
              <a:t>With current data, larger clients that specialize in dermatology and surgery have a higher usage rate</a:t>
            </a:r>
          </a:p>
          <a:p>
            <a:r>
              <a:rPr lang="en-US" sz="2000" dirty="0"/>
              <a:t>Previous slide showed medium sized clients have the highest usage rates</a:t>
            </a:r>
          </a:p>
        </p:txBody>
      </p:sp>
      <p:graphicFrame>
        <p:nvGraphicFramePr>
          <p:cNvPr id="4" name="Content Placeholder 9">
            <a:extLst>
              <a:ext uri="{FF2B5EF4-FFF2-40B4-BE49-F238E27FC236}">
                <a16:creationId xmlns:a16="http://schemas.microsoft.com/office/drawing/2014/main" id="{64BE760E-5060-4595-9D35-1DDF80946E69}"/>
              </a:ext>
            </a:extLst>
          </p:cNvPr>
          <p:cNvGraphicFramePr>
            <a:graphicFrameLocks/>
          </p:cNvGraphicFramePr>
          <p:nvPr>
            <p:extLst>
              <p:ext uri="{D42A27DB-BD31-4B8C-83A1-F6EECF244321}">
                <p14:modId xmlns:p14="http://schemas.microsoft.com/office/powerpoint/2010/main" val="3349858276"/>
              </p:ext>
            </p:extLst>
          </p:nvPr>
        </p:nvGraphicFramePr>
        <p:xfrm>
          <a:off x="2767008" y="5099841"/>
          <a:ext cx="6376990" cy="1459709"/>
        </p:xfrm>
        <a:graphic>
          <a:graphicData uri="http://schemas.openxmlformats.org/drawingml/2006/table">
            <a:tbl>
              <a:tblPr>
                <a:tableStyleId>{5C22544A-7EE6-4342-B048-85BDC9FD1C3A}</a:tableStyleId>
              </a:tblPr>
              <a:tblGrid>
                <a:gridCol w="1382010">
                  <a:extLst>
                    <a:ext uri="{9D8B030D-6E8A-4147-A177-3AD203B41FA5}">
                      <a16:colId xmlns:a16="http://schemas.microsoft.com/office/drawing/2014/main" val="672867700"/>
                    </a:ext>
                  </a:extLst>
                </a:gridCol>
                <a:gridCol w="858821">
                  <a:extLst>
                    <a:ext uri="{9D8B030D-6E8A-4147-A177-3AD203B41FA5}">
                      <a16:colId xmlns:a16="http://schemas.microsoft.com/office/drawing/2014/main" val="968544247"/>
                    </a:ext>
                  </a:extLst>
                </a:gridCol>
                <a:gridCol w="1085865">
                  <a:extLst>
                    <a:ext uri="{9D8B030D-6E8A-4147-A177-3AD203B41FA5}">
                      <a16:colId xmlns:a16="http://schemas.microsoft.com/office/drawing/2014/main" val="3042209475"/>
                    </a:ext>
                  </a:extLst>
                </a:gridCol>
                <a:gridCol w="1115481">
                  <a:extLst>
                    <a:ext uri="{9D8B030D-6E8A-4147-A177-3AD203B41FA5}">
                      <a16:colId xmlns:a16="http://schemas.microsoft.com/office/drawing/2014/main" val="2734447545"/>
                    </a:ext>
                  </a:extLst>
                </a:gridCol>
                <a:gridCol w="631776">
                  <a:extLst>
                    <a:ext uri="{9D8B030D-6E8A-4147-A177-3AD203B41FA5}">
                      <a16:colId xmlns:a16="http://schemas.microsoft.com/office/drawing/2014/main" val="3291286531"/>
                    </a:ext>
                  </a:extLst>
                </a:gridCol>
                <a:gridCol w="671261">
                  <a:extLst>
                    <a:ext uri="{9D8B030D-6E8A-4147-A177-3AD203B41FA5}">
                      <a16:colId xmlns:a16="http://schemas.microsoft.com/office/drawing/2014/main" val="2363956794"/>
                    </a:ext>
                  </a:extLst>
                </a:gridCol>
                <a:gridCol w="631776">
                  <a:extLst>
                    <a:ext uri="{9D8B030D-6E8A-4147-A177-3AD203B41FA5}">
                      <a16:colId xmlns:a16="http://schemas.microsoft.com/office/drawing/2014/main" val="3708130709"/>
                    </a:ext>
                  </a:extLst>
                </a:gridCol>
              </a:tblGrid>
              <a:tr h="261239">
                <a:tc gridSpan="7">
                  <a:txBody>
                    <a:bodyPr/>
                    <a:lstStyle/>
                    <a:p>
                      <a:pPr algn="ctr" fontAlgn="b"/>
                      <a:r>
                        <a:rPr lang="en-US" sz="1200" b="1" u="none" strike="noStrike" dirty="0">
                          <a:effectLst/>
                        </a:rPr>
                        <a:t>New Appeal</a:t>
                      </a:r>
                      <a:endParaRPr lang="en-US" sz="12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656865"/>
                  </a:ext>
                </a:extLst>
              </a:tr>
              <a:tr h="414753">
                <a:tc>
                  <a:txBody>
                    <a:bodyPr/>
                    <a:lstStyle/>
                    <a:p>
                      <a:pPr algn="ctr" fontAlgn="b"/>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Dermatology</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Family Medicine</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OB-GYN</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Oncology</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Pediatrics</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Surgery</a:t>
                      </a:r>
                      <a:endParaRPr lang="en-US"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68834153"/>
                  </a:ext>
                </a:extLst>
              </a:tr>
              <a:tr h="261239">
                <a:tc>
                  <a:txBody>
                    <a:bodyPr/>
                    <a:lstStyle/>
                    <a:p>
                      <a:pPr algn="ctr" fontAlgn="b"/>
                      <a:r>
                        <a:rPr lang="en-US" sz="1200" u="none" strike="noStrike">
                          <a:effectLst/>
                        </a:rPr>
                        <a:t>Small</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solidFill>
                            <a:srgbClr val="FF0000"/>
                          </a:solidFill>
                          <a:effectLst/>
                        </a:rPr>
                        <a:t>N/A</a:t>
                      </a:r>
                      <a:endParaRPr lang="en-US" sz="12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0.40</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solidFill>
                            <a:srgbClr val="FF0000"/>
                          </a:solidFill>
                          <a:effectLst/>
                        </a:rPr>
                        <a:t>N/A</a:t>
                      </a:r>
                      <a:endParaRPr lang="en-US" sz="1200" b="0" i="0" u="none" strike="noStrike" dirty="0">
                        <a:solidFill>
                          <a:srgbClr val="FF0000"/>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tc>
                  <a:txBody>
                    <a:bodyPr/>
                    <a:lstStyle/>
                    <a:p>
                      <a:pPr algn="ctr" fontAlgn="b"/>
                      <a:r>
                        <a:rPr lang="en-US" sz="1200" u="none" strike="noStrike" dirty="0">
                          <a:effectLst/>
                          <a:highlight>
                            <a:srgbClr val="FFFF00"/>
                          </a:highlight>
                        </a:rPr>
                        <a:t>0.41</a:t>
                      </a:r>
                      <a:endParaRPr lang="en-US" sz="1200" b="0" i="0" u="none" strike="noStrike" dirty="0">
                        <a:solidFill>
                          <a:srgbClr val="000000"/>
                        </a:solidFill>
                        <a:effectLst/>
                        <a:highlight>
                          <a:srgbClr val="FFFF00"/>
                        </a:highlight>
                        <a:latin typeface="Calibri" panose="020F0502020204030204" pitchFamily="34" charset="0"/>
                      </a:endParaRPr>
                    </a:p>
                  </a:txBody>
                  <a:tcPr marL="9525" marR="9525" marT="9525" marB="0" anchor="ctr"/>
                </a:tc>
                <a:extLst>
                  <a:ext uri="{0D108BD9-81ED-4DB2-BD59-A6C34878D82A}">
                    <a16:rowId xmlns:a16="http://schemas.microsoft.com/office/drawing/2014/main" val="3417778498"/>
                  </a:ext>
                </a:extLst>
              </a:tr>
              <a:tr h="261239">
                <a:tc>
                  <a:txBody>
                    <a:bodyPr/>
                    <a:lstStyle/>
                    <a:p>
                      <a:pPr algn="ctr" fontAlgn="b"/>
                      <a:r>
                        <a:rPr lang="en-US" sz="1200" u="none" strike="noStrike">
                          <a:effectLst/>
                        </a:rPr>
                        <a:t>Medium</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effectLst/>
                          <a:highlight>
                            <a:srgbClr val="FFFF00"/>
                          </a:highlight>
                        </a:rPr>
                        <a:t>0.33</a:t>
                      </a:r>
                      <a:endParaRPr lang="en-US" sz="1200" b="0" i="0" u="none" strike="noStrike" dirty="0">
                        <a:solidFill>
                          <a:srgbClr val="000000"/>
                        </a:solidFill>
                        <a:effectLst/>
                        <a:highlight>
                          <a:srgbClr val="FFFF00"/>
                        </a:highlight>
                        <a:latin typeface="Calibri" panose="020F0502020204030204" pitchFamily="34" charset="0"/>
                      </a:endParaRPr>
                    </a:p>
                  </a:txBody>
                  <a:tcPr marL="9525" marR="9525" marT="9525" marB="0" anchor="ctr"/>
                </a:tc>
                <a:tc>
                  <a:txBody>
                    <a:bodyPr/>
                    <a:lstStyle/>
                    <a:p>
                      <a:pPr algn="ctr" fontAlgn="b"/>
                      <a:r>
                        <a:rPr lang="en-US" sz="1200" u="none" strike="noStrike" dirty="0">
                          <a:solidFill>
                            <a:srgbClr val="FF0000"/>
                          </a:solidFill>
                          <a:effectLst/>
                        </a:rPr>
                        <a:t>N/A</a:t>
                      </a:r>
                      <a:endParaRPr lang="en-US" sz="12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0.44</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solidFill>
                            <a:srgbClr val="FF0000"/>
                          </a:solidFill>
                          <a:effectLst/>
                        </a:rPr>
                        <a:t>N/A</a:t>
                      </a:r>
                      <a:endParaRPr lang="en-US" sz="12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0.58</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effectLst/>
                          <a:highlight>
                            <a:srgbClr val="FFFF00"/>
                          </a:highlight>
                        </a:rPr>
                        <a:t>0.54</a:t>
                      </a:r>
                      <a:endParaRPr lang="en-US" sz="1200" b="0" i="0" u="none" strike="noStrike" dirty="0">
                        <a:solidFill>
                          <a:srgbClr val="000000"/>
                        </a:solidFill>
                        <a:effectLst/>
                        <a:highlight>
                          <a:srgbClr val="FFFF00"/>
                        </a:highlight>
                        <a:latin typeface="Calibri" panose="020F0502020204030204" pitchFamily="34" charset="0"/>
                      </a:endParaRPr>
                    </a:p>
                  </a:txBody>
                  <a:tcPr marL="9525" marR="9525" marT="9525" marB="0" anchor="ctr"/>
                </a:tc>
                <a:extLst>
                  <a:ext uri="{0D108BD9-81ED-4DB2-BD59-A6C34878D82A}">
                    <a16:rowId xmlns:a16="http://schemas.microsoft.com/office/drawing/2014/main" val="3683459382"/>
                  </a:ext>
                </a:extLst>
              </a:tr>
              <a:tr h="261239">
                <a:tc>
                  <a:txBody>
                    <a:bodyPr/>
                    <a:lstStyle/>
                    <a:p>
                      <a:pPr algn="ctr" fontAlgn="b"/>
                      <a:r>
                        <a:rPr lang="en-US" sz="1200" u="none" strike="noStrike">
                          <a:effectLst/>
                        </a:rPr>
                        <a:t>Large</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effectLst/>
                          <a:highlight>
                            <a:srgbClr val="FFFF00"/>
                          </a:highlight>
                        </a:rPr>
                        <a:t>0.55</a:t>
                      </a:r>
                      <a:endParaRPr lang="en-US" sz="1200" b="0" i="0" u="none" strike="noStrike" dirty="0">
                        <a:solidFill>
                          <a:srgbClr val="000000"/>
                        </a:solidFill>
                        <a:effectLst/>
                        <a:highlight>
                          <a:srgbClr val="FFFF00"/>
                        </a:highlight>
                        <a:latin typeface="Calibri" panose="020F0502020204030204" pitchFamily="34" charset="0"/>
                      </a:endParaRPr>
                    </a:p>
                  </a:txBody>
                  <a:tcPr marL="9525" marR="9525" marT="9525" marB="0" anchor="ctr"/>
                </a:tc>
                <a:tc>
                  <a:txBody>
                    <a:bodyPr/>
                    <a:lstStyle/>
                    <a:p>
                      <a:pPr algn="ctr" fontAlgn="b"/>
                      <a:r>
                        <a:rPr lang="en-US" sz="1200" u="none" strike="noStrike" dirty="0">
                          <a:solidFill>
                            <a:srgbClr val="FF0000"/>
                          </a:solidFill>
                          <a:effectLst/>
                        </a:rPr>
                        <a:t>N/A</a:t>
                      </a:r>
                      <a:endParaRPr lang="en-US" sz="12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solidFill>
                            <a:srgbClr val="FF0000"/>
                          </a:solidFill>
                          <a:effectLst/>
                        </a:rPr>
                        <a:t>N/A</a:t>
                      </a:r>
                      <a:endParaRPr lang="en-US" sz="12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0.42</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extLst>
                  <a:ext uri="{0D108BD9-81ED-4DB2-BD59-A6C34878D82A}">
                    <a16:rowId xmlns:a16="http://schemas.microsoft.com/office/drawing/2014/main" val="7360960"/>
                  </a:ext>
                </a:extLst>
              </a:tr>
            </a:tbl>
          </a:graphicData>
        </a:graphic>
      </p:graphicFrame>
      <p:graphicFrame>
        <p:nvGraphicFramePr>
          <p:cNvPr id="5" name="Table 4">
            <a:extLst>
              <a:ext uri="{FF2B5EF4-FFF2-40B4-BE49-F238E27FC236}">
                <a16:creationId xmlns:a16="http://schemas.microsoft.com/office/drawing/2014/main" id="{C0E1FFAB-9F87-4603-B5D9-98F1E583FC7A}"/>
              </a:ext>
            </a:extLst>
          </p:cNvPr>
          <p:cNvGraphicFramePr>
            <a:graphicFrameLocks noGrp="1"/>
          </p:cNvGraphicFramePr>
          <p:nvPr>
            <p:extLst>
              <p:ext uri="{D42A27DB-BD31-4B8C-83A1-F6EECF244321}">
                <p14:modId xmlns:p14="http://schemas.microsoft.com/office/powerpoint/2010/main" val="384473247"/>
              </p:ext>
            </p:extLst>
          </p:nvPr>
        </p:nvGraphicFramePr>
        <p:xfrm>
          <a:off x="2767008" y="3438525"/>
          <a:ext cx="6376990" cy="1459709"/>
        </p:xfrm>
        <a:graphic>
          <a:graphicData uri="http://schemas.openxmlformats.org/drawingml/2006/table">
            <a:tbl>
              <a:tblPr>
                <a:tableStyleId>{5C22544A-7EE6-4342-B048-85BDC9FD1C3A}</a:tableStyleId>
              </a:tblPr>
              <a:tblGrid>
                <a:gridCol w="1382010">
                  <a:extLst>
                    <a:ext uri="{9D8B030D-6E8A-4147-A177-3AD203B41FA5}">
                      <a16:colId xmlns:a16="http://schemas.microsoft.com/office/drawing/2014/main" val="3842527458"/>
                    </a:ext>
                  </a:extLst>
                </a:gridCol>
                <a:gridCol w="858821">
                  <a:extLst>
                    <a:ext uri="{9D8B030D-6E8A-4147-A177-3AD203B41FA5}">
                      <a16:colId xmlns:a16="http://schemas.microsoft.com/office/drawing/2014/main" val="2559118364"/>
                    </a:ext>
                  </a:extLst>
                </a:gridCol>
                <a:gridCol w="1085865">
                  <a:extLst>
                    <a:ext uri="{9D8B030D-6E8A-4147-A177-3AD203B41FA5}">
                      <a16:colId xmlns:a16="http://schemas.microsoft.com/office/drawing/2014/main" val="4116116317"/>
                    </a:ext>
                  </a:extLst>
                </a:gridCol>
                <a:gridCol w="1115481">
                  <a:extLst>
                    <a:ext uri="{9D8B030D-6E8A-4147-A177-3AD203B41FA5}">
                      <a16:colId xmlns:a16="http://schemas.microsoft.com/office/drawing/2014/main" val="1567231461"/>
                    </a:ext>
                  </a:extLst>
                </a:gridCol>
                <a:gridCol w="631776">
                  <a:extLst>
                    <a:ext uri="{9D8B030D-6E8A-4147-A177-3AD203B41FA5}">
                      <a16:colId xmlns:a16="http://schemas.microsoft.com/office/drawing/2014/main" val="44720006"/>
                    </a:ext>
                  </a:extLst>
                </a:gridCol>
                <a:gridCol w="671261">
                  <a:extLst>
                    <a:ext uri="{9D8B030D-6E8A-4147-A177-3AD203B41FA5}">
                      <a16:colId xmlns:a16="http://schemas.microsoft.com/office/drawing/2014/main" val="1088768484"/>
                    </a:ext>
                  </a:extLst>
                </a:gridCol>
                <a:gridCol w="631776">
                  <a:extLst>
                    <a:ext uri="{9D8B030D-6E8A-4147-A177-3AD203B41FA5}">
                      <a16:colId xmlns:a16="http://schemas.microsoft.com/office/drawing/2014/main" val="160541907"/>
                    </a:ext>
                  </a:extLst>
                </a:gridCol>
              </a:tblGrid>
              <a:tr h="261239">
                <a:tc gridSpan="7">
                  <a:txBody>
                    <a:bodyPr/>
                    <a:lstStyle/>
                    <a:p>
                      <a:pPr algn="ctr" fontAlgn="b"/>
                      <a:r>
                        <a:rPr lang="en-US" sz="1200" b="1" u="none" strike="noStrike" dirty="0">
                          <a:effectLst/>
                        </a:rPr>
                        <a:t>New Coding</a:t>
                      </a:r>
                      <a:endParaRPr lang="en-US" sz="12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6728591"/>
                  </a:ext>
                </a:extLst>
              </a:tr>
              <a:tr h="414753">
                <a:tc>
                  <a:txBody>
                    <a:bodyPr/>
                    <a:lstStyle/>
                    <a:p>
                      <a:pPr algn="ctr" fontAlgn="b"/>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effectLst/>
                        </a:rPr>
                        <a:t>Dermatology</a:t>
                      </a:r>
                      <a:endParaRPr lang="en-US"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effectLst/>
                        </a:rPr>
                        <a:t>Family Medicine</a:t>
                      </a:r>
                      <a:endParaRPr lang="en-US"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OB-GYN</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Oncology</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Pediatrics</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effectLst/>
                        </a:rPr>
                        <a:t>Surgery</a:t>
                      </a:r>
                      <a:endParaRPr lang="en-US"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41864888"/>
                  </a:ext>
                </a:extLst>
              </a:tr>
              <a:tr h="261239">
                <a:tc>
                  <a:txBody>
                    <a:bodyPr/>
                    <a:lstStyle/>
                    <a:p>
                      <a:pPr algn="ctr" fontAlgn="b"/>
                      <a:r>
                        <a:rPr lang="en-US" sz="1200" u="none" strike="noStrike">
                          <a:effectLst/>
                        </a:rPr>
                        <a:t>Small</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solidFill>
                            <a:srgbClr val="FF0000"/>
                          </a:solidFill>
                          <a:effectLst/>
                        </a:rPr>
                        <a:t>N/A</a:t>
                      </a:r>
                      <a:endParaRPr lang="en-US" sz="12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0.44</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tc>
                  <a:txBody>
                    <a:bodyPr/>
                    <a:lstStyle/>
                    <a:p>
                      <a:pPr algn="ctr" fontAlgn="b"/>
                      <a:r>
                        <a:rPr lang="en-US" sz="1200" u="none" strike="noStrike" dirty="0">
                          <a:effectLst/>
                          <a:highlight>
                            <a:srgbClr val="FFFF00"/>
                          </a:highlight>
                        </a:rPr>
                        <a:t>0.53</a:t>
                      </a:r>
                      <a:endParaRPr lang="en-US" sz="1200" b="0" i="0" u="none" strike="noStrike" dirty="0">
                        <a:solidFill>
                          <a:srgbClr val="000000"/>
                        </a:solidFill>
                        <a:effectLst/>
                        <a:highlight>
                          <a:srgbClr val="FFFF00"/>
                        </a:highlight>
                        <a:latin typeface="Calibri" panose="020F0502020204030204" pitchFamily="34" charset="0"/>
                      </a:endParaRPr>
                    </a:p>
                  </a:txBody>
                  <a:tcPr marL="9525" marR="9525" marT="9525" marB="0" anchor="ctr"/>
                </a:tc>
                <a:extLst>
                  <a:ext uri="{0D108BD9-81ED-4DB2-BD59-A6C34878D82A}">
                    <a16:rowId xmlns:a16="http://schemas.microsoft.com/office/drawing/2014/main" val="1930658999"/>
                  </a:ext>
                </a:extLst>
              </a:tr>
              <a:tr h="261239">
                <a:tc>
                  <a:txBody>
                    <a:bodyPr/>
                    <a:lstStyle/>
                    <a:p>
                      <a:pPr algn="ctr" fontAlgn="b"/>
                      <a:r>
                        <a:rPr lang="en-US" sz="1200" u="none" strike="noStrike">
                          <a:effectLst/>
                        </a:rPr>
                        <a:t>Medium</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effectLst/>
                          <a:highlight>
                            <a:srgbClr val="FFFF00"/>
                          </a:highlight>
                        </a:rPr>
                        <a:t>0.48</a:t>
                      </a:r>
                      <a:endParaRPr lang="en-US" sz="1200" b="0" i="0" u="none" strike="noStrike" dirty="0">
                        <a:solidFill>
                          <a:srgbClr val="000000"/>
                        </a:solidFill>
                        <a:effectLst/>
                        <a:highlight>
                          <a:srgbClr val="FFFF00"/>
                        </a:highlight>
                        <a:latin typeface="Calibri" panose="020F050202020403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tc>
                  <a:txBody>
                    <a:bodyPr/>
                    <a:lstStyle/>
                    <a:p>
                      <a:pPr algn="ctr" fontAlgn="b"/>
                      <a:r>
                        <a:rPr lang="en-US" sz="1200" u="none" strike="noStrike" dirty="0">
                          <a:effectLst/>
                        </a:rPr>
                        <a:t>0.44</a:t>
                      </a:r>
                      <a:endParaRPr lang="en-US"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solidFill>
                            <a:srgbClr val="FF0000"/>
                          </a:solidFill>
                          <a:effectLst/>
                        </a:rPr>
                        <a:t>N/A</a:t>
                      </a:r>
                      <a:endParaRPr lang="en-US" sz="12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0.72</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effectLst/>
                          <a:highlight>
                            <a:srgbClr val="FFFF00"/>
                          </a:highlight>
                        </a:rPr>
                        <a:t>0.67</a:t>
                      </a:r>
                      <a:endParaRPr lang="en-US" sz="1200" b="0" i="0" u="none" strike="noStrike" dirty="0">
                        <a:solidFill>
                          <a:srgbClr val="000000"/>
                        </a:solidFill>
                        <a:effectLst/>
                        <a:highlight>
                          <a:srgbClr val="FFFF00"/>
                        </a:highlight>
                        <a:latin typeface="Calibri" panose="020F0502020204030204" pitchFamily="34" charset="0"/>
                      </a:endParaRPr>
                    </a:p>
                  </a:txBody>
                  <a:tcPr marL="9525" marR="9525" marT="9525" marB="0" anchor="ctr"/>
                </a:tc>
                <a:extLst>
                  <a:ext uri="{0D108BD9-81ED-4DB2-BD59-A6C34878D82A}">
                    <a16:rowId xmlns:a16="http://schemas.microsoft.com/office/drawing/2014/main" val="2399660964"/>
                  </a:ext>
                </a:extLst>
              </a:tr>
              <a:tr h="261239">
                <a:tc>
                  <a:txBody>
                    <a:bodyPr/>
                    <a:lstStyle/>
                    <a:p>
                      <a:pPr algn="ctr" fontAlgn="b"/>
                      <a:r>
                        <a:rPr lang="en-US" sz="1200" u="none" strike="noStrike">
                          <a:effectLst/>
                        </a:rPr>
                        <a:t>Large</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200" u="none" strike="noStrike" dirty="0">
                          <a:effectLst/>
                          <a:highlight>
                            <a:srgbClr val="FFFF00"/>
                          </a:highlight>
                        </a:rPr>
                        <a:t>0.62</a:t>
                      </a:r>
                      <a:endParaRPr lang="en-US" sz="1200" b="0" i="0" u="none" strike="noStrike" dirty="0">
                        <a:solidFill>
                          <a:srgbClr val="000000"/>
                        </a:solidFill>
                        <a:effectLst/>
                        <a:highlight>
                          <a:srgbClr val="FFFF00"/>
                        </a:highlight>
                        <a:latin typeface="Calibri" panose="020F050202020403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tc>
                  <a:txBody>
                    <a:bodyPr/>
                    <a:lstStyle/>
                    <a:p>
                      <a:pPr algn="ctr" fontAlgn="b"/>
                      <a:r>
                        <a:rPr lang="en-US" sz="1200" u="none" strike="noStrike" dirty="0">
                          <a:solidFill>
                            <a:srgbClr val="FF0000"/>
                          </a:solidFill>
                          <a:effectLst/>
                        </a:rPr>
                        <a:t>N/A</a:t>
                      </a:r>
                      <a:endParaRPr lang="en-US" sz="12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n-US" sz="1200" u="none" strike="noStrike">
                          <a:effectLst/>
                        </a:rPr>
                        <a:t>0.46</a:t>
                      </a:r>
                      <a:endParaRPr lang="en-US" sz="1200" b="0" i="0" u="none" strike="noStrike">
                        <a:solidFill>
                          <a:srgbClr val="000000"/>
                        </a:solidFill>
                        <a:effectLst/>
                        <a:latin typeface="Calibri" panose="020F050202020403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rPr>
                        <a:t>N/A</a:t>
                      </a:r>
                      <a:endParaRPr kumimoji="0" lang="en-US" sz="1200" b="0"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9525" marR="9525" marT="9525" marB="0" anchor="ctr"/>
                </a:tc>
                <a:extLst>
                  <a:ext uri="{0D108BD9-81ED-4DB2-BD59-A6C34878D82A}">
                    <a16:rowId xmlns:a16="http://schemas.microsoft.com/office/drawing/2014/main" val="3655625244"/>
                  </a:ext>
                </a:extLst>
              </a:tr>
            </a:tbl>
          </a:graphicData>
        </a:graphic>
      </p:graphicFrame>
    </p:spTree>
    <p:extLst>
      <p:ext uri="{BB962C8B-B14F-4D97-AF65-F5344CB8AC3E}">
        <p14:creationId xmlns:p14="http://schemas.microsoft.com/office/powerpoint/2010/main" val="830189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8E9BD-38E4-4718-A6ED-9EADC4FC7B37}"/>
              </a:ext>
            </a:extLst>
          </p:cNvPr>
          <p:cNvSpPr>
            <a:spLocks noGrp="1"/>
          </p:cNvSpPr>
          <p:nvPr>
            <p:ph type="title"/>
          </p:nvPr>
        </p:nvSpPr>
        <p:spPr/>
        <p:txBody>
          <a:bodyPr/>
          <a:lstStyle/>
          <a:p>
            <a:r>
              <a:rPr lang="en-US" dirty="0"/>
              <a:t>Metrics to track success – Adoption Rate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0E3B95-039A-443C-8096-9828F2FD0F25}"/>
                  </a:ext>
                </a:extLst>
              </p:cNvPr>
              <p:cNvSpPr>
                <a:spLocks noGrp="1"/>
              </p:cNvSpPr>
              <p:nvPr>
                <p:ph idx="1"/>
              </p:nvPr>
            </p:nvSpPr>
            <p:spPr/>
            <p:txBody>
              <a:bodyPr/>
              <a:lstStyle/>
              <a:p>
                <a:r>
                  <a:rPr lang="en-US" sz="2000" dirty="0"/>
                  <a:t>Adoption rate = </a:t>
                </a:r>
                <a14:m>
                  <m:oMath xmlns:m="http://schemas.openxmlformats.org/officeDocument/2006/math">
                    <m:f>
                      <m:fPr>
                        <m:ctrlPr>
                          <a:rPr lang="en-US" sz="2000" i="1">
                            <a:latin typeface="Cambria Math" panose="02040503050406030204" pitchFamily="18" charset="0"/>
                          </a:rPr>
                        </m:ctrlPr>
                      </m:fPr>
                      <m:num>
                        <m:r>
                          <m:rPr>
                            <m:nor/>
                          </m:rPr>
                          <a:rPr lang="en-US" sz="2000" dirty="0"/>
                          <m:t>Total</m:t>
                        </m:r>
                        <m:r>
                          <m:rPr>
                            <m:nor/>
                          </m:rPr>
                          <a:rPr lang="en-US" sz="2000" dirty="0"/>
                          <m:t> </m:t>
                        </m:r>
                        <m:r>
                          <m:rPr>
                            <m:nor/>
                          </m:rPr>
                          <a:rPr lang="en-US" sz="2000" dirty="0"/>
                          <m:t>Number</m:t>
                        </m:r>
                        <m:r>
                          <m:rPr>
                            <m:nor/>
                          </m:rPr>
                          <a:rPr lang="en-US" sz="2000" dirty="0"/>
                          <m:t> </m:t>
                        </m:r>
                        <m:r>
                          <m:rPr>
                            <m:nor/>
                          </m:rPr>
                          <a:rPr lang="en-US" sz="2000" dirty="0"/>
                          <m:t>of</m:t>
                        </m:r>
                        <m:r>
                          <m:rPr>
                            <m:nor/>
                          </m:rPr>
                          <a:rPr lang="en-US" sz="2000" dirty="0"/>
                          <m:t> </m:t>
                        </m:r>
                        <m:r>
                          <m:rPr>
                            <m:nor/>
                          </m:rPr>
                          <a:rPr lang="en-US" sz="2000" dirty="0"/>
                          <m:t>Unique</m:t>
                        </m:r>
                        <m:r>
                          <m:rPr>
                            <m:nor/>
                          </m:rPr>
                          <a:rPr lang="en-US" sz="2000" dirty="0"/>
                          <m:t> </m:t>
                        </m:r>
                        <m:r>
                          <m:rPr>
                            <m:nor/>
                          </m:rPr>
                          <a:rPr lang="en-US" sz="2000" dirty="0"/>
                          <m:t>Clients</m:t>
                        </m:r>
                        <m:r>
                          <m:rPr>
                            <m:nor/>
                          </m:rPr>
                          <a:rPr lang="en-US" sz="2000" b="0" i="0" dirty="0" smtClean="0"/>
                          <m:t> </m:t>
                        </m:r>
                        <m:r>
                          <m:rPr>
                            <m:nor/>
                          </m:rPr>
                          <a:rPr lang="en-US" sz="2000" b="0" i="0" dirty="0" smtClean="0"/>
                          <m:t>that</m:t>
                        </m:r>
                        <m:r>
                          <m:rPr>
                            <m:nor/>
                          </m:rPr>
                          <a:rPr lang="en-US" sz="2000" b="0" i="0" dirty="0" smtClean="0"/>
                          <m:t> </m:t>
                        </m:r>
                        <m:r>
                          <m:rPr>
                            <m:nor/>
                          </m:rPr>
                          <a:rPr lang="en-US" sz="2000" b="0" i="0" dirty="0" smtClean="0"/>
                          <m:t>Utilized</m:t>
                        </m:r>
                        <m:r>
                          <m:rPr>
                            <m:nor/>
                          </m:rPr>
                          <a:rPr lang="en-US" sz="2000" b="0" i="0" dirty="0" smtClean="0"/>
                          <m:t> </m:t>
                        </m:r>
                        <m:r>
                          <m:rPr>
                            <m:nor/>
                          </m:rPr>
                          <a:rPr lang="en-US" sz="2000" b="0" i="0" dirty="0" smtClean="0"/>
                          <m:t>the</m:t>
                        </m:r>
                        <m:r>
                          <m:rPr>
                            <m:nor/>
                          </m:rPr>
                          <a:rPr lang="en-US" sz="2000" b="0" i="0" dirty="0" smtClean="0"/>
                          <m:t> </m:t>
                        </m:r>
                        <m:r>
                          <m:rPr>
                            <m:nor/>
                          </m:rPr>
                          <a:rPr lang="en-US" sz="2000" b="0" i="0" dirty="0" smtClean="0"/>
                          <m:t>New</m:t>
                        </m:r>
                        <m:r>
                          <m:rPr>
                            <m:nor/>
                          </m:rPr>
                          <a:rPr lang="en-US" sz="2000" b="0" i="0" dirty="0" smtClean="0"/>
                          <m:t> </m:t>
                        </m:r>
                        <m:r>
                          <m:rPr>
                            <m:nor/>
                          </m:rPr>
                          <a:rPr lang="en-US" sz="2000" b="0" i="0" dirty="0" smtClean="0"/>
                          <m:t>Functionality</m:t>
                        </m:r>
                        <m:r>
                          <a:rPr lang="en-US" sz="2000" dirty="0">
                            <a:latin typeface="Cambria Math" panose="02040503050406030204" pitchFamily="18" charset="0"/>
                          </a:rPr>
                          <m:t> </m:t>
                        </m:r>
                      </m:num>
                      <m:den>
                        <m:r>
                          <m:rPr>
                            <m:nor/>
                          </m:rPr>
                          <a:rPr lang="en-US" sz="2000" dirty="0"/>
                          <m:t>Total</m:t>
                        </m:r>
                        <m:r>
                          <m:rPr>
                            <m:nor/>
                          </m:rPr>
                          <a:rPr lang="en-US" sz="2000" dirty="0"/>
                          <m:t> </m:t>
                        </m:r>
                        <m:r>
                          <m:rPr>
                            <m:nor/>
                          </m:rPr>
                          <a:rPr lang="en-US" sz="2000" dirty="0"/>
                          <m:t>Number</m:t>
                        </m:r>
                        <m:r>
                          <m:rPr>
                            <m:nor/>
                          </m:rPr>
                          <a:rPr lang="en-US" sz="2000" dirty="0"/>
                          <m:t> </m:t>
                        </m:r>
                        <m:r>
                          <m:rPr>
                            <m:nor/>
                          </m:rPr>
                          <a:rPr lang="en-US" sz="2000" dirty="0"/>
                          <m:t>of</m:t>
                        </m:r>
                        <m:r>
                          <m:rPr>
                            <m:nor/>
                          </m:rPr>
                          <a:rPr lang="en-US" sz="2000" dirty="0"/>
                          <m:t> </m:t>
                        </m:r>
                        <m:r>
                          <m:rPr>
                            <m:nor/>
                          </m:rPr>
                          <a:rPr lang="en-US" sz="2000" dirty="0"/>
                          <m:t>Unique</m:t>
                        </m:r>
                        <m:r>
                          <m:rPr>
                            <m:nor/>
                          </m:rPr>
                          <a:rPr lang="en-US" sz="2000" dirty="0"/>
                          <m:t> </m:t>
                        </m:r>
                        <m:r>
                          <m:rPr>
                            <m:nor/>
                          </m:rPr>
                          <a:rPr lang="en-US" sz="2000" dirty="0"/>
                          <m:t>Clients</m:t>
                        </m:r>
                        <m:r>
                          <a:rPr lang="en-US" sz="2000" dirty="0">
                            <a:latin typeface="Cambria Math" panose="02040503050406030204" pitchFamily="18" charset="0"/>
                          </a:rPr>
                          <m:t>  </m:t>
                        </m:r>
                      </m:den>
                    </m:f>
                  </m:oMath>
                </a14:m>
                <a:endParaRPr lang="en-US" sz="2000" dirty="0"/>
              </a:p>
              <a:p>
                <a:endParaRPr lang="en-US" sz="2000" dirty="0"/>
              </a:p>
              <a:p>
                <a:endParaRPr lang="en-US" sz="2000" dirty="0"/>
              </a:p>
            </p:txBody>
          </p:sp>
        </mc:Choice>
        <mc:Fallback xmlns="">
          <p:sp>
            <p:nvSpPr>
              <p:cNvPr id="3" name="Content Placeholder 2">
                <a:extLst>
                  <a:ext uri="{FF2B5EF4-FFF2-40B4-BE49-F238E27FC236}">
                    <a16:creationId xmlns:a16="http://schemas.microsoft.com/office/drawing/2014/main" id="{3F0E3B95-039A-443C-8096-9828F2FD0F25}"/>
                  </a:ext>
                </a:extLst>
              </p:cNvPr>
              <p:cNvSpPr>
                <a:spLocks noGrp="1" noRot="1" noChangeAspect="1" noMove="1" noResize="1" noEditPoints="1" noAdjustHandles="1" noChangeArrowheads="1" noChangeShapeType="1" noTextEdit="1"/>
              </p:cNvSpPr>
              <p:nvPr>
                <p:ph idx="1"/>
              </p:nvPr>
            </p:nvSpPr>
            <p:spPr>
              <a:blipFill>
                <a:blip r:embed="rId3"/>
                <a:stretch>
                  <a:fillRect l="-522"/>
                </a:stretch>
              </a:blipFill>
            </p:spPr>
            <p:txBody>
              <a:bodyPr/>
              <a:lstStyle/>
              <a:p>
                <a:r>
                  <a:rPr lang="en-US">
                    <a:noFill/>
                  </a:rPr>
                  <a:t> </a:t>
                </a:r>
              </a:p>
            </p:txBody>
          </p:sp>
        </mc:Fallback>
      </mc:AlternateContent>
      <p:pic>
        <p:nvPicPr>
          <p:cNvPr id="4110" name="Picture 14">
            <a:extLst>
              <a:ext uri="{FF2B5EF4-FFF2-40B4-BE49-F238E27FC236}">
                <a16:creationId xmlns:a16="http://schemas.microsoft.com/office/drawing/2014/main" id="{2B9BECB4-82CC-45EE-AA22-BD36A6EF2A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4772" y="3643313"/>
            <a:ext cx="3638550" cy="3019425"/>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a:extLst>
              <a:ext uri="{FF2B5EF4-FFF2-40B4-BE49-F238E27FC236}">
                <a16:creationId xmlns:a16="http://schemas.microsoft.com/office/drawing/2014/main" id="{0698BA61-8B9D-48BF-8405-CC2F4272DD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9894" y="3643312"/>
            <a:ext cx="3638550" cy="3019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5183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B5ECB-007B-4FF1-BA6F-2380744B01CF}"/>
              </a:ext>
            </a:extLst>
          </p:cNvPr>
          <p:cNvSpPr>
            <a:spLocks noGrp="1"/>
          </p:cNvSpPr>
          <p:nvPr>
            <p:ph type="title"/>
          </p:nvPr>
        </p:nvSpPr>
        <p:spPr/>
        <p:txBody>
          <a:bodyPr/>
          <a:lstStyle/>
          <a:p>
            <a:r>
              <a:rPr lang="en-US" dirty="0"/>
              <a:t>Metrics to track success – Utilization Rate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071A0C-0B0C-4B3A-B970-3DA6CE34BDAC}"/>
                  </a:ext>
                </a:extLst>
              </p:cNvPr>
              <p:cNvSpPr>
                <a:spLocks noGrp="1"/>
              </p:cNvSpPr>
              <p:nvPr>
                <p:ph idx="1"/>
              </p:nvPr>
            </p:nvSpPr>
            <p:spPr/>
            <p:txBody>
              <a:bodyPr/>
              <a:lstStyle/>
              <a:p>
                <a:r>
                  <a:rPr lang="en-US" sz="2000" dirty="0"/>
                  <a:t>Utilization rate = </a:t>
                </a:r>
                <a14:m>
                  <m:oMath xmlns:m="http://schemas.openxmlformats.org/officeDocument/2006/math">
                    <m:f>
                      <m:fPr>
                        <m:ctrlPr>
                          <a:rPr lang="en-US" sz="2000" i="1" smtClean="0">
                            <a:latin typeface="Cambria Math" panose="02040503050406030204" pitchFamily="18" charset="0"/>
                          </a:rPr>
                        </m:ctrlPr>
                      </m:fPr>
                      <m:num>
                        <m:r>
                          <m:rPr>
                            <m:nor/>
                          </m:rPr>
                          <a:rPr lang="en-US" sz="2000" dirty="0"/>
                          <m:t>Total</m:t>
                        </m:r>
                        <m:r>
                          <m:rPr>
                            <m:nor/>
                          </m:rPr>
                          <a:rPr lang="en-US" sz="2000" dirty="0"/>
                          <m:t> </m:t>
                        </m:r>
                        <m:r>
                          <m:rPr>
                            <m:nor/>
                          </m:rPr>
                          <a:rPr lang="en-US" sz="2000" dirty="0"/>
                          <m:t>Actions</m:t>
                        </m:r>
                        <m:r>
                          <m:rPr>
                            <m:nor/>
                          </m:rPr>
                          <a:rPr lang="en-US" sz="2000" dirty="0"/>
                          <m:t> </m:t>
                        </m:r>
                        <m:r>
                          <m:rPr>
                            <m:nor/>
                          </m:rPr>
                          <a:rPr lang="en-US" sz="2000" dirty="0"/>
                          <m:t>for</m:t>
                        </m:r>
                        <m:r>
                          <m:rPr>
                            <m:nor/>
                          </m:rPr>
                          <a:rPr lang="en-US" sz="2000" dirty="0"/>
                          <m:t> </m:t>
                        </m:r>
                        <m:r>
                          <m:rPr>
                            <m:nor/>
                          </m:rPr>
                          <a:rPr lang="en-US" sz="2000" dirty="0"/>
                          <m:t>New</m:t>
                        </m:r>
                        <m:r>
                          <m:rPr>
                            <m:nor/>
                          </m:rPr>
                          <a:rPr lang="en-US" sz="2000" dirty="0"/>
                          <m:t> </m:t>
                        </m:r>
                        <m:r>
                          <m:rPr>
                            <m:nor/>
                          </m:rPr>
                          <a:rPr lang="en-US" sz="2000" dirty="0"/>
                          <m:t>Function</m:t>
                        </m:r>
                      </m:num>
                      <m:den>
                        <m:r>
                          <m:rPr>
                            <m:nor/>
                          </m:rPr>
                          <a:rPr lang="en-US" sz="2000" dirty="0"/>
                          <m:t>Total</m:t>
                        </m:r>
                        <m:r>
                          <m:rPr>
                            <m:nor/>
                          </m:rPr>
                          <a:rPr lang="en-US" sz="2000" dirty="0"/>
                          <m:t> </m:t>
                        </m:r>
                        <m:r>
                          <m:rPr>
                            <m:nor/>
                          </m:rPr>
                          <a:rPr lang="en-US" sz="2000" dirty="0"/>
                          <m:t>Actions</m:t>
                        </m:r>
                        <m:r>
                          <m:rPr>
                            <m:nor/>
                          </m:rPr>
                          <a:rPr lang="en-US" sz="2000" b="0" i="0" dirty="0" smtClean="0"/>
                          <m:t> (</m:t>
                        </m:r>
                        <m:r>
                          <m:rPr>
                            <m:nor/>
                          </m:rPr>
                          <a:rPr lang="en-US" sz="2000" dirty="0"/>
                          <m:t>New</m:t>
                        </m:r>
                        <m:r>
                          <m:rPr>
                            <m:nor/>
                          </m:rPr>
                          <a:rPr lang="en-US" sz="2000" dirty="0"/>
                          <m:t> </m:t>
                        </m:r>
                        <m:r>
                          <m:rPr>
                            <m:nor/>
                          </m:rPr>
                          <a:rPr lang="en-US" sz="2000" b="0" i="0" dirty="0" smtClean="0"/>
                          <m:t>and</m:t>
                        </m:r>
                        <m:r>
                          <m:rPr>
                            <m:nor/>
                          </m:rPr>
                          <a:rPr lang="en-US" sz="2000" dirty="0"/>
                          <m:t> </m:t>
                        </m:r>
                        <m:r>
                          <m:rPr>
                            <m:nor/>
                          </m:rPr>
                          <a:rPr lang="en-US" sz="2000" dirty="0"/>
                          <m:t>Legacy</m:t>
                        </m:r>
                        <m:r>
                          <a:rPr lang="en-US" sz="2000" b="0" i="1" dirty="0" smtClean="0">
                            <a:latin typeface="Cambria Math" panose="02040503050406030204" pitchFamily="18" charset="0"/>
                          </a:rPr>
                          <m:t>)</m:t>
                        </m:r>
                      </m:den>
                    </m:f>
                  </m:oMath>
                </a14:m>
                <a:endParaRPr lang="en-US" sz="2000" dirty="0"/>
              </a:p>
              <a:p>
                <a:r>
                  <a:rPr lang="en-US" sz="2000" dirty="0"/>
                  <a:t>Provides a different perspective compared to Adoption rate by client</a:t>
                </a:r>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6B071A0C-0B0C-4B3A-B970-3DA6CE34BDAC}"/>
                  </a:ext>
                </a:extLst>
              </p:cNvPr>
              <p:cNvSpPr>
                <a:spLocks noGrp="1" noRot="1" noChangeAspect="1" noMove="1" noResize="1" noEditPoints="1" noAdjustHandles="1" noChangeArrowheads="1" noChangeShapeType="1" noTextEdit="1"/>
              </p:cNvSpPr>
              <p:nvPr>
                <p:ph idx="1"/>
              </p:nvPr>
            </p:nvSpPr>
            <p:spPr>
              <a:blipFill>
                <a:blip r:embed="rId3"/>
                <a:stretch>
                  <a:fillRect l="-522"/>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C3202C08-F5F2-42A3-89E1-79EADE5636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945" y="3595684"/>
            <a:ext cx="3733800" cy="301942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3">
            <a:extLst>
              <a:ext uri="{FF2B5EF4-FFF2-40B4-BE49-F238E27FC236}">
                <a16:creationId xmlns:a16="http://schemas.microsoft.com/office/drawing/2014/main" id="{83F06367-68CB-46DC-9537-171B14D8A2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7505" y="3595683"/>
            <a:ext cx="3638550" cy="3019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550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1BEF7-6CF7-4A73-87A6-F6B268DA27E4}"/>
              </a:ext>
            </a:extLst>
          </p:cNvPr>
          <p:cNvSpPr>
            <a:spLocks noGrp="1"/>
          </p:cNvSpPr>
          <p:nvPr>
            <p:ph type="title"/>
          </p:nvPr>
        </p:nvSpPr>
        <p:spPr/>
        <p:txBody>
          <a:bodyPr/>
          <a:lstStyle/>
          <a:p>
            <a:r>
              <a:rPr lang="en-US" dirty="0"/>
              <a:t>Observations</a:t>
            </a:r>
          </a:p>
        </p:txBody>
      </p:sp>
      <p:sp>
        <p:nvSpPr>
          <p:cNvPr id="3" name="Content Placeholder 2">
            <a:extLst>
              <a:ext uri="{FF2B5EF4-FFF2-40B4-BE49-F238E27FC236}">
                <a16:creationId xmlns:a16="http://schemas.microsoft.com/office/drawing/2014/main" id="{F0A24C03-4923-4E57-BE23-026466DEEEFF}"/>
              </a:ext>
            </a:extLst>
          </p:cNvPr>
          <p:cNvSpPr>
            <a:spLocks noGrp="1"/>
          </p:cNvSpPr>
          <p:nvPr>
            <p:ph idx="1"/>
          </p:nvPr>
        </p:nvSpPr>
        <p:spPr/>
        <p:txBody>
          <a:bodyPr>
            <a:normAutofit/>
          </a:bodyPr>
          <a:lstStyle/>
          <a:p>
            <a:r>
              <a:rPr lang="en-US" sz="2000" dirty="0"/>
              <a:t>The weekly utilization and adoption rate shows an upward trend for the previous three months</a:t>
            </a:r>
          </a:p>
          <a:p>
            <a:endParaRPr lang="en-US" sz="2000" dirty="0"/>
          </a:p>
          <a:p>
            <a:r>
              <a:rPr lang="en-US" sz="2000" dirty="0"/>
              <a:t>Can be considered successful depending on our expectations after three months of usage</a:t>
            </a:r>
          </a:p>
          <a:p>
            <a:pPr lvl="1"/>
            <a:r>
              <a:rPr lang="en-US" sz="1600" dirty="0"/>
              <a:t>Adoption rate for new appeals is 15-20% while new coding is between 18-25%</a:t>
            </a:r>
          </a:p>
          <a:p>
            <a:pPr lvl="1"/>
            <a:r>
              <a:rPr lang="en-US" sz="1600" dirty="0"/>
              <a:t>Utilization rate for new appeals is 20-30% while new coding is between 6-10%</a:t>
            </a:r>
          </a:p>
          <a:p>
            <a:pPr marL="457200" lvl="1" indent="0">
              <a:buNone/>
            </a:pPr>
            <a:endParaRPr lang="en-US" sz="1600" dirty="0"/>
          </a:p>
          <a:p>
            <a:r>
              <a:rPr lang="en-US" sz="2000" dirty="0"/>
              <a:t>We can compare the adoption rate of the legacy functionality and with the adoption rate of the new functionality</a:t>
            </a:r>
          </a:p>
          <a:p>
            <a:pPr marL="0" indent="0">
              <a:buNone/>
            </a:pPr>
            <a:endParaRPr lang="en-US" sz="2000" dirty="0"/>
          </a:p>
        </p:txBody>
      </p:sp>
    </p:spTree>
    <p:extLst>
      <p:ext uri="{BB962C8B-B14F-4D97-AF65-F5344CB8AC3E}">
        <p14:creationId xmlns:p14="http://schemas.microsoft.com/office/powerpoint/2010/main" val="4123275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C610A-0E1C-455E-B438-1C88BC56E4D8}"/>
              </a:ext>
            </a:extLst>
          </p:cNvPr>
          <p:cNvSpPr>
            <a:spLocks noGrp="1"/>
          </p:cNvSpPr>
          <p:nvPr>
            <p:ph type="title"/>
          </p:nvPr>
        </p:nvSpPr>
        <p:spPr/>
        <p:txBody>
          <a:bodyPr/>
          <a:lstStyle/>
          <a:p>
            <a:r>
              <a:rPr lang="en-US" dirty="0"/>
              <a:t>Comparing adoption rate - Appeals</a:t>
            </a:r>
          </a:p>
        </p:txBody>
      </p:sp>
      <p:sp>
        <p:nvSpPr>
          <p:cNvPr id="3" name="Content Placeholder 2">
            <a:extLst>
              <a:ext uri="{FF2B5EF4-FFF2-40B4-BE49-F238E27FC236}">
                <a16:creationId xmlns:a16="http://schemas.microsoft.com/office/drawing/2014/main" id="{E2998A5C-5DDA-49BF-B70D-5AE52BD91C50}"/>
              </a:ext>
            </a:extLst>
          </p:cNvPr>
          <p:cNvSpPr>
            <a:spLocks noGrp="1"/>
          </p:cNvSpPr>
          <p:nvPr>
            <p:ph idx="1"/>
          </p:nvPr>
        </p:nvSpPr>
        <p:spPr/>
        <p:txBody>
          <a:bodyPr>
            <a:normAutofit/>
          </a:bodyPr>
          <a:lstStyle/>
          <a:p>
            <a:r>
              <a:rPr lang="en-US" sz="2000" dirty="0"/>
              <a:t>The adoption rate of the new appeal functionality is closer to the legacy functionality compared to the new coding functionality </a:t>
            </a:r>
          </a:p>
        </p:txBody>
      </p:sp>
      <p:pic>
        <p:nvPicPr>
          <p:cNvPr id="7" name="Picture 6">
            <a:extLst>
              <a:ext uri="{FF2B5EF4-FFF2-40B4-BE49-F238E27FC236}">
                <a16:creationId xmlns:a16="http://schemas.microsoft.com/office/drawing/2014/main" id="{12456BA4-B5C5-4C65-A03B-2D313740D4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180" y="3429000"/>
            <a:ext cx="3638549" cy="301942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6">
            <a:extLst>
              <a:ext uri="{FF2B5EF4-FFF2-40B4-BE49-F238E27FC236}">
                <a16:creationId xmlns:a16="http://schemas.microsoft.com/office/drawing/2014/main" id="{818FCD3F-A23D-4733-92D7-13A2E664A8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270" y="3429000"/>
            <a:ext cx="3638550" cy="3019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850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04F6B-1002-4E66-B1EF-F378A46CB20D}"/>
              </a:ext>
            </a:extLst>
          </p:cNvPr>
          <p:cNvSpPr>
            <a:spLocks noGrp="1"/>
          </p:cNvSpPr>
          <p:nvPr>
            <p:ph type="title"/>
          </p:nvPr>
        </p:nvSpPr>
        <p:spPr/>
        <p:txBody>
          <a:bodyPr/>
          <a:lstStyle/>
          <a:p>
            <a:r>
              <a:rPr lang="en-US" dirty="0"/>
              <a:t>Comparing adoption rate - Coding</a:t>
            </a:r>
          </a:p>
        </p:txBody>
      </p:sp>
      <p:sp>
        <p:nvSpPr>
          <p:cNvPr id="3" name="Content Placeholder 2">
            <a:extLst>
              <a:ext uri="{FF2B5EF4-FFF2-40B4-BE49-F238E27FC236}">
                <a16:creationId xmlns:a16="http://schemas.microsoft.com/office/drawing/2014/main" id="{90C19F9D-8766-4929-89EC-71132808CD9D}"/>
              </a:ext>
            </a:extLst>
          </p:cNvPr>
          <p:cNvSpPr>
            <a:spLocks noGrp="1"/>
          </p:cNvSpPr>
          <p:nvPr>
            <p:ph idx="1"/>
          </p:nvPr>
        </p:nvSpPr>
        <p:spPr/>
        <p:txBody>
          <a:bodyPr>
            <a:normAutofit/>
          </a:bodyPr>
          <a:lstStyle/>
          <a:p>
            <a:r>
              <a:rPr lang="en-US" sz="2000" dirty="0"/>
              <a:t>Large gap in adoption rate between legacy coding and new coding functionality</a:t>
            </a:r>
          </a:p>
        </p:txBody>
      </p:sp>
      <p:pic>
        <p:nvPicPr>
          <p:cNvPr id="4" name="Picture 2">
            <a:extLst>
              <a:ext uri="{FF2B5EF4-FFF2-40B4-BE49-F238E27FC236}">
                <a16:creationId xmlns:a16="http://schemas.microsoft.com/office/drawing/2014/main" id="{1EDFA595-150A-4409-9F33-A34A11E2F0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429000"/>
            <a:ext cx="3638549" cy="30194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4">
            <a:extLst>
              <a:ext uri="{FF2B5EF4-FFF2-40B4-BE49-F238E27FC236}">
                <a16:creationId xmlns:a16="http://schemas.microsoft.com/office/drawing/2014/main" id="{0E78CFEF-87E0-4E45-BAA1-DA70CFA99A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4650" y="3428999"/>
            <a:ext cx="3638550" cy="3019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067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B9EDF-ADA6-400B-B828-B854171EDDED}"/>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1B2831C0-521C-47CF-A07F-9A752F46C37E}"/>
              </a:ext>
            </a:extLst>
          </p:cNvPr>
          <p:cNvSpPr>
            <a:spLocks noGrp="1"/>
          </p:cNvSpPr>
          <p:nvPr>
            <p:ph idx="1"/>
          </p:nvPr>
        </p:nvSpPr>
        <p:spPr/>
        <p:txBody>
          <a:bodyPr>
            <a:normAutofit/>
          </a:bodyPr>
          <a:lstStyle/>
          <a:p>
            <a:r>
              <a:rPr lang="en-US" sz="2000" dirty="0"/>
              <a:t>I would not recommend expanding the new functionality to all clients until we investigate why there is such a large gap in adoption rate between new and legacy coding actions</a:t>
            </a:r>
          </a:p>
          <a:p>
            <a:pPr lvl="1"/>
            <a:r>
              <a:rPr lang="en-US" sz="1800" dirty="0"/>
              <a:t>Is there something about the design that is causing the lower adoption rate?</a:t>
            </a:r>
          </a:p>
          <a:p>
            <a:pPr lvl="1"/>
            <a:r>
              <a:rPr lang="en-US" sz="1800" dirty="0"/>
              <a:t>Is the design intuitive if you are experienced with the legacy functionality? If not, are there enough training materials for the clients?</a:t>
            </a:r>
          </a:p>
          <a:p>
            <a:pPr lvl="1"/>
            <a:r>
              <a:rPr lang="en-US" sz="1800" dirty="0"/>
              <a:t>Collect another one or two months of data and see if it changes</a:t>
            </a:r>
          </a:p>
          <a:p>
            <a:r>
              <a:rPr lang="en-US" sz="2200" dirty="0"/>
              <a:t>Would recommend the product education team to focus their efforts on the new coding functionality and observe if that increases the adoption rate</a:t>
            </a:r>
          </a:p>
          <a:p>
            <a:pPr lvl="1"/>
            <a:r>
              <a:rPr lang="en-US" sz="1800" dirty="0"/>
              <a:t>Could expand to more clients to observe its effectiveness, but not all</a:t>
            </a:r>
          </a:p>
          <a:p>
            <a:r>
              <a:rPr lang="en-US" sz="2200" dirty="0"/>
              <a:t>Collect additional data </a:t>
            </a:r>
          </a:p>
          <a:p>
            <a:pPr lvl="1"/>
            <a:r>
              <a:rPr lang="en-US" sz="1800" dirty="0"/>
              <a:t>Survey data rating the new functionality vs. old functionality</a:t>
            </a:r>
          </a:p>
          <a:p>
            <a:pPr lvl="1"/>
            <a:r>
              <a:rPr lang="en-US" sz="1800" dirty="0"/>
              <a:t>If possible, total time it takes to complete each action and calculate average time of legacy vs. new</a:t>
            </a:r>
          </a:p>
          <a:p>
            <a:pPr lvl="1"/>
            <a:r>
              <a:rPr lang="en-US" sz="1800" dirty="0"/>
              <a:t>If possible, more clients of each size for each specialization</a:t>
            </a:r>
          </a:p>
          <a:p>
            <a:pPr lvl="1"/>
            <a:endParaRPr lang="en-US" sz="1800" dirty="0"/>
          </a:p>
        </p:txBody>
      </p:sp>
    </p:spTree>
    <p:extLst>
      <p:ext uri="{BB962C8B-B14F-4D97-AF65-F5344CB8AC3E}">
        <p14:creationId xmlns:p14="http://schemas.microsoft.com/office/powerpoint/2010/main" val="975571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E26C9-69CE-4A5A-885D-E13E695348B3}"/>
              </a:ext>
            </a:extLst>
          </p:cNvPr>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2424427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5BD18-9508-4E0D-9AB0-B95B1360D607}"/>
              </a:ext>
            </a:extLst>
          </p:cNvPr>
          <p:cNvSpPr>
            <a:spLocks noGrp="1"/>
          </p:cNvSpPr>
          <p:nvPr>
            <p:ph type="title"/>
          </p:nvPr>
        </p:nvSpPr>
        <p:spPr/>
        <p:txBody>
          <a:bodyPr/>
          <a:lstStyle/>
          <a:p>
            <a:r>
              <a:rPr lang="en-US" dirty="0"/>
              <a:t>Appendix</a:t>
            </a:r>
          </a:p>
        </p:txBody>
      </p:sp>
      <p:sp>
        <p:nvSpPr>
          <p:cNvPr id="3" name="Content Placeholder 2">
            <a:extLst>
              <a:ext uri="{FF2B5EF4-FFF2-40B4-BE49-F238E27FC236}">
                <a16:creationId xmlns:a16="http://schemas.microsoft.com/office/drawing/2014/main" id="{1B14E0B2-74CD-470D-A1BD-0F8FBF450EEC}"/>
              </a:ext>
            </a:extLst>
          </p:cNvPr>
          <p:cNvSpPr>
            <a:spLocks noGrp="1"/>
          </p:cNvSpPr>
          <p:nvPr>
            <p:ph idx="1"/>
          </p:nvPr>
        </p:nvSpPr>
        <p:spPr/>
        <p:txBody>
          <a:bodyPr/>
          <a:lstStyle/>
          <a:p>
            <a:r>
              <a:rPr lang="en-US" dirty="0"/>
              <a:t>Coding – adding a medical billing code to a claim for the patient services rendered</a:t>
            </a:r>
          </a:p>
          <a:p>
            <a:r>
              <a:rPr lang="en-US" dirty="0"/>
              <a:t>Appeal – appealing a claim for a lower than expected payment</a:t>
            </a:r>
          </a:p>
        </p:txBody>
      </p:sp>
    </p:spTree>
    <p:extLst>
      <p:ext uri="{BB962C8B-B14F-4D97-AF65-F5344CB8AC3E}">
        <p14:creationId xmlns:p14="http://schemas.microsoft.com/office/powerpoint/2010/main" val="17228683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841</TotalTime>
  <Words>2312</Words>
  <Application>Microsoft Office PowerPoint</Application>
  <PresentationFormat>Widescreen</PresentationFormat>
  <Paragraphs>235</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Cambria Math</vt:lpstr>
      <vt:lpstr>Office Theme</vt:lpstr>
      <vt:lpstr>Product Analytics Business Case</vt:lpstr>
      <vt:lpstr>Background</vt:lpstr>
      <vt:lpstr>Data</vt:lpstr>
      <vt:lpstr>Goal</vt:lpstr>
      <vt:lpstr>Assumptions</vt:lpstr>
      <vt:lpstr>Utilization</vt:lpstr>
      <vt:lpstr>Utilization by Client Size</vt:lpstr>
      <vt:lpstr>Utilization by Client Specialty</vt:lpstr>
      <vt:lpstr>Do larger clients have higher usage rates?</vt:lpstr>
      <vt:lpstr>Metrics to track success – Adoption Rate</vt:lpstr>
      <vt:lpstr>Metrics to track success – Utilization Rate</vt:lpstr>
      <vt:lpstr>Observations</vt:lpstr>
      <vt:lpstr>Comparing adoption rate - Appeals</vt:lpstr>
      <vt:lpstr>Comparing adoption rate - Coding</vt:lpstr>
      <vt:lpstr>Recommendations</vt:lpstr>
      <vt:lpstr>Questions?</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f</dc:creator>
  <cp:lastModifiedBy>andrew f</cp:lastModifiedBy>
  <cp:revision>2</cp:revision>
  <dcterms:created xsi:type="dcterms:W3CDTF">2020-12-18T05:35:24Z</dcterms:created>
  <dcterms:modified xsi:type="dcterms:W3CDTF">2020-12-22T17:11:56Z</dcterms:modified>
</cp:coreProperties>
</file>